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ec9335-740f-5027-e471-8c21080d616b}">
          <p14:sldIdLst>
            <p14:sldId id="256"/>
            <p14:sldId id="257"/>
            <p14:sldId id="258"/>
          </p14:sldIdLst>
        </p14:section>
        <p14:section name="Build" id="{caffef16-2f8c-259a-f120-de3b7abd670b}">
          <p14:sldIdLst>
            <p14:sldId id="259"/>
            <p14:sldId id="260"/>
            <p14:sldId id="261"/>
          </p14:sldIdLst>
        </p14:section>
        <p14:section name="Cloud" id="{f8e7f8c4-cb3f-c0ba-f12e-5031c99d9697}">
          <p14:sldIdLst>
            <p14:sldId id="262"/>
            <p14:sldId id="263"/>
            <p14:sldId id="264"/>
            <p14:sldId id="265"/>
          </p14:sldIdLst>
        </p14:section>
        <p14:section name="Findings" id="{7740c765-216c-b3b0-ff98-4817ed02e92e}">
          <p14:sldIdLst>
            <p14:sldId id="266"/>
            <p14:sldId id="267"/>
          </p14:sldIdLst>
        </p14:section>
        <p14:section name="Close" id="{31bd9b3f-1f77-2429-5351-56a371df6624}">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CampusDesk is a facility issue tracker for a campus. The application is the small part; the assignment is the delivery pipeline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deliberately small but real: two related tables, a proper lifecycle, and a metric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tiers in the request path. Everything else is the delivery and operations machinery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Liveness and readiness differ on purpose: a slow database should not get the pod killed, but it should take the pod out of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upfront that this is a demo gate. Claiming it as auth would not survive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build-load-scan-push ordering is the point: the gate runs before anything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for real against eu-north-1, then destroyed cleanly. Total spend was a few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replicas of each service, an Ingress routing / and /api, and an HPA reading real CPU through metrics-server.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 buckets run from 5 minutes to a week. Campus repairs take hours and days; the default buckets top out at 10 seconds and would put everything in +Inf.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slides worth talking through. Bug 4 in particular took extracting the image tarball to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Diagnosed by extracting the image tarball and listing what was actually in each layer. The filesystem was clean; the layer history was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mocked. The browser shots are real renders; the terminal shots are real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has working, evidenced output rather than a configuration file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Stating the gaps plainly is more credible than implying everything worked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walk through any of the six bugs, or the Terraform and Helm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2027"/>
        </a:solidFill>
      </p:bgPr>
    </p:bg>
    <p:spTree>
      <p:nvGrpSpPr>
        <p:cNvPr id="1" name=""/>
        <p:cNvGrpSpPr/>
        <p:nvPr/>
      </p:nvGrpSpPr>
      <p:grpSpPr>
        <a:xfrm>
          <a:off x="0" y="0"/>
          <a:ext cx="0" cy="0"/>
          <a:chOff x="0" y="0"/>
          <a:chExt cx="0" cy="0"/>
        </a:xfrm>
      </p:grpSpPr>
      <p:sp>
        <p:nvSpPr>
          <p:cNvPr id="2" name="Text 0"/>
          <p:cNvSpPr/>
          <p:nvPr/>
        </p:nvSpPr>
        <p:spPr>
          <a:xfrm>
            <a:off x="0" y="0"/>
            <a:ext cx="201168" cy="6858000"/>
          </a:xfrm>
          <a:prstGeom prst="rect">
            <a:avLst/>
          </a:prstGeom>
          <a:solidFill>
            <a:srgbClr val="028090"/>
          </a:solidFill>
          <a:ln/>
        </p:spPr>
        <p:txBody>
          <a:bodyPr wrap="square" rtlCol="0" anchor="ctr"/>
          <a:lstStyle/>
          <a:p>
            <a:pPr indent="0" marL="0">
              <a:buNone/>
            </a:pPr>
            <a:endParaRPr lang="en-US" dirty="0"/>
          </a:p>
        </p:txBody>
      </p:sp>
      <p:sp>
        <p:nvSpPr>
          <p:cNvPr id="3" name="Text 1"/>
          <p:cNvSpPr/>
          <p:nvPr>
            <p:ph idx="101" type="title" hasCustomPrompt="1"/>
          </p:nvPr>
        </p:nvSpPr>
        <p:spPr>
          <a:xfrm>
            <a:off x="1005840" y="2286000"/>
            <a:ext cx="10058400" cy="1371600"/>
          </a:xfrm>
          <a:prstGeom prst="rect">
            <a:avLst/>
          </a:prstGeom>
          <a:noFill/>
          <a:ln/>
        </p:spPr>
        <p:txBody>
          <a:bodyPr wrap="square" rtlCol="0"/>
          <a:lstStyle>
            <a:lvl1pPr indent="0" marL="0">
              <a:buNone/>
              <a:defRPr lang="en-US" sz="5000" b="1" dirty="0">
                <a:solidFill>
                  <a:schemeClr val="bg1"/>
                </a:solidFill>
              </a:defRPr>
            </a:lvl1pPr>
          </a:lstStyle>
          <a:p>
            <a:pPr indent="0" marL="0">
              <a:buNone/>
            </a:pPr>
            <a:r>
              <a:rPr lang="en-US" sz="5000" b="1" dirty="0">
                <a:solidFill>
                  <a:schemeClr val="bg1"/>
                </a:solidFill>
              </a:rPr>
              <a:t> </a:t>
            </a:r>
            <a:endParaRPr lang="en-US" sz="5000" dirty="0"/>
          </a:p>
        </p:txBody>
      </p:sp>
      <p:sp>
        <p:nvSpPr>
          <p:cNvPr id="4" name="Text 1"/>
          <p:cNvSpPr/>
          <p:nvPr>
            <p:ph idx="102" type="body" hasCustomPrompt="1"/>
          </p:nvPr>
        </p:nvSpPr>
        <p:spPr>
          <a:xfrm>
            <a:off x="1005840" y="3657600"/>
            <a:ext cx="10058400" cy="1463040"/>
          </a:xfrm>
          <a:prstGeom prst="rect">
            <a:avLst/>
          </a:prstGeom>
          <a:noFill/>
          <a:ln/>
        </p:spPr>
        <p:txBody>
          <a:bodyPr wrap="square" rtlCol="0"/>
          <a:lstStyle>
            <a:lvl1pPr indent="0" marL="0">
              <a:buNone/>
              <a:defRPr lang="en-US" sz="1800" dirty="0">
                <a:solidFill>
                  <a:srgbClr val="02C39A"/>
                </a:solidFill>
              </a:defRPr>
            </a:lvl1pPr>
          </a:lstStyle>
          <a:p>
            <a:pPr indent="0" marL="0">
              <a:buNone/>
            </a:pPr>
            <a:r>
              <a:rPr lang="en-US" sz="1800" dirty="0">
                <a:solidFill>
                  <a:srgbClr val="02C39A"/>
                </a:solidFill>
              </a:rPr>
              <a:t> </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334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97280" y="2743200"/>
            <a:ext cx="10058400" cy="1097280"/>
          </a:xfrm>
          <a:prstGeom prst="rect">
            <a:avLst/>
          </a:prstGeom>
          <a:noFill/>
          <a:ln/>
        </p:spPr>
        <p:txBody>
          <a:bodyPr wrap="square" rtlCol="0"/>
          <a:lstStyle>
            <a:lvl1pPr indent="0" marL="0">
              <a:buNone/>
              <a:defRPr lang="en-US" sz="4000" b="1" dirty="0">
                <a:solidFill>
                  <a:schemeClr val="bg1"/>
                </a:solidFill>
              </a:defRPr>
            </a:lvl1pPr>
          </a:lstStyle>
          <a:p>
            <a:pPr indent="0" marL="0">
              <a:buNone/>
            </a:pPr>
            <a:r>
              <a:rPr lang="en-US" sz="4000" b="1" dirty="0">
                <a:solidFill>
                  <a:schemeClr val="bg1"/>
                </a:solidFill>
              </a:rPr>
              <a:t> </a:t>
            </a:r>
            <a:endParaRPr lang="en-US" sz="4000" dirty="0"/>
          </a:p>
        </p:txBody>
      </p:sp>
      <p:sp>
        <p:nvSpPr>
          <p:cNvPr id="3" name="Text 0"/>
          <p:cNvSpPr/>
          <p:nvPr>
            <p:ph idx="101" type="body" hasCustomPrompt="1"/>
          </p:nvPr>
        </p:nvSpPr>
        <p:spPr>
          <a:xfrm>
            <a:off x="1097280" y="3840480"/>
            <a:ext cx="10058400" cy="914400"/>
          </a:xfrm>
          <a:prstGeom prst="rect">
            <a:avLst/>
          </a:prstGeom>
          <a:noFill/>
          <a:ln/>
        </p:spPr>
        <p:txBody>
          <a:bodyPr wrap="square" rtlCol="0"/>
          <a:lstStyle>
            <a:lvl1pPr indent="0" marL="0">
              <a:buNone/>
              <a:defRPr lang="en-US" sz="1600" dirty="0">
                <a:solidFill>
                  <a:srgbClr val="02C39A"/>
                </a:solidFill>
              </a:defRPr>
            </a:lvl1pPr>
          </a:lstStyle>
          <a:p>
            <a:pPr indent="0" marL="0">
              <a:buNone/>
            </a:pPr>
            <a:r>
              <a:rPr lang="en-US" sz="1600" dirty="0">
                <a:solidFill>
                  <a:srgbClr val="02C39A"/>
                </a:solidFill>
              </a:rPr>
              <a:t> </a:t>
            </a: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 </a:t>
            </a:r>
            <a:endParaRPr lang="en-US" sz="3400" dirty="0"/>
          </a:p>
        </p:txBody>
      </p:sp>
      <p:sp>
        <p:nvSpPr>
          <p:cNvPr id="3" name="Text 0"/>
          <p:cNvSpPr txBox="1"/>
          <p:nvPr/>
        </p:nvSpPr>
        <p:spPr>
          <a:xfrm>
            <a:off x="640080" y="6400800"/>
            <a:ext cx="5486400" cy="274320"/>
          </a:xfrm>
          <a:prstGeom prst="rect">
            <a:avLst/>
          </a:prstGeom>
          <a:noFill/>
          <a:ln/>
        </p:spPr>
        <p:txBody>
          <a:bodyPr wrap="square" rtlCol="0" anchor="ctr"/>
          <a:lstStyle/>
          <a:p>
            <a:pPr indent="0" marL="0">
              <a:buNone/>
            </a:pPr>
            <a:r>
              <a:rPr lang="en-US" sz="1000" dirty="0">
                <a:solidFill>
                  <a:srgbClr val="5C6B73"/>
                </a:solidFill>
              </a:rPr>
              <a:t>CampusDesk - DevOps Capstone</a:t>
            </a:r>
            <a:endParaRPr lang="en-US" sz="1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F20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 </a:t>
            </a:r>
            <a:endParaRPr lang="en-US" sz="3400" dirty="0"/>
          </a:p>
        </p:txBody>
      </p:sp>
      <p:sp>
        <p:nvSpPr>
          <p:cNvPr id="3" name="Text 0"/>
          <p:cNvSpPr txBox="1"/>
          <p:nvPr/>
        </p:nvSpPr>
        <p:spPr>
          <a:xfrm>
            <a:off x="640080" y="6400800"/>
            <a:ext cx="5486400" cy="274320"/>
          </a:xfrm>
          <a:prstGeom prst="rect">
            <a:avLst/>
          </a:prstGeom>
          <a:noFill/>
          <a:ln/>
        </p:spPr>
        <p:txBody>
          <a:bodyPr wrap="square" rtlCol="0" anchor="ctr"/>
          <a:lstStyle/>
          <a:p>
            <a:pPr indent="0" marL="0">
              <a:buNone/>
            </a:pPr>
            <a:r>
              <a:rPr lang="en-US" sz="1000" dirty="0">
                <a:solidFill>
                  <a:srgbClr val="5C6B73"/>
                </a:solidFill>
              </a:rPr>
              <a:t>CampusDesk - DevOps Capstone</a:t>
            </a:r>
            <a:endParaRPr lang="en-US" sz="1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1005840" y="2286000"/>
            <a:ext cx="10058400" cy="1371600"/>
          </a:xfrm>
          <a:prstGeom prst="rect">
            <a:avLst/>
          </a:prstGeom>
          <a:noFill/>
          <a:ln/>
        </p:spPr>
        <p:txBody>
          <a:bodyPr wrap="square" rtlCol="0"/>
          <a:lstStyle/>
          <a:p>
            <a:pPr indent="0" marL="0">
              <a:buNone/>
            </a:pPr>
            <a:r>
              <a:rPr lang="en-US" sz="5000" b="1" dirty="0">
                <a:solidFill>
                  <a:schemeClr val="bg1"/>
                </a:solidFill>
              </a:rPr>
              <a:t>CampusDesk</a:t>
            </a:r>
            <a:endParaRPr lang="en-US" sz="5000" dirty="0"/>
          </a:p>
        </p:txBody>
      </p:sp>
      <p:sp>
        <p:nvSpPr>
          <p:cNvPr id="3" name="Text 1"/>
          <p:cNvSpPr/>
          <p:nvPr>
            <p:ph idx="102" type="body" hasCustomPrompt="1"/>
          </p:nvPr>
        </p:nvSpPr>
        <p:spPr>
          <a:xfrm>
            <a:off x="1005840" y="3657600"/>
            <a:ext cx="10058400" cy="1463040"/>
          </a:xfrm>
          <a:prstGeom prst="rect">
            <a:avLst/>
          </a:prstGeom>
          <a:noFill/>
          <a:ln/>
        </p:spPr>
        <p:txBody>
          <a:bodyPr wrap="square" rtlCol="0"/>
          <a:lstStyle/>
          <a:p>
            <a:pPr indent="0" marL="0">
              <a:buNone/>
            </a:pPr>
            <a:r>
              <a:rPr lang="en-US" sz="1800" dirty="0">
                <a:solidFill>
                  <a:srgbClr val="02C39A"/>
                </a:solidFill>
              </a:rPr>
              <a:t>A campus facility issue tracker, taken from laptop to a monitored EKS cluster</a:t>
            </a:r>
            <a:endParaRPr lang="en-US" sz="1800" dirty="0"/>
          </a:p>
          <a:p>
            <a:pPr indent="0" marL="0">
              <a:buNone/>
            </a:pPr>
            <a:r>
              <a:rPr lang="en-US" sz="1400" dirty="0">
                <a:solidFill>
                  <a:srgbClr val="5C6B73"/>
                </a:solidFill>
              </a:rPr>
              <a:t>DevOps Capstone  ·  Session 21  ·  Lakshay Jagga</a:t>
            </a:r>
            <a:endParaRPr lang="en-US" sz="1800" dirty="0"/>
          </a:p>
        </p:txBody>
      </p:sp>
      <p:sp>
        <p:nvSpPr>
          <p:cNvPr id="4" name="Text 2"/>
          <p:cNvSpPr txBox="1"/>
          <p:nvPr/>
        </p:nvSpPr>
        <p:spPr>
          <a:xfrm>
            <a:off x="1005840" y="5760720"/>
            <a:ext cx="10058400" cy="365760"/>
          </a:xfrm>
          <a:prstGeom prst="rect">
            <a:avLst/>
          </a:prstGeom>
          <a:noFill/>
          <a:ln/>
        </p:spPr>
        <p:txBody>
          <a:bodyPr wrap="square" lIns="0" tIns="0" rIns="0" bIns="0" rtlCol="0" anchor="ctr"/>
          <a:lstStyle/>
          <a:p>
            <a:pPr indent="0" marL="0">
              <a:buNone/>
            </a:pPr>
            <a:r>
              <a:rPr lang="en-US" sz="1100" dirty="0">
                <a:solidFill>
                  <a:srgbClr val="00A896"/>
                </a:solidFill>
              </a:rPr>
              <a:t>React + FastAPI + PostgreSQL   ·   Docker   ·   GitHub Actions   ·   Trivy   ·   Terraform   ·   EKS   ·   Helm   ·   Prometheus + Grafana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The problem it solves</a:t>
            </a:r>
            <a:endParaRPr lang="en-US" sz="3400" dirty="0"/>
          </a:p>
        </p:txBody>
      </p:sp>
      <p:sp>
        <p:nvSpPr>
          <p:cNvPr id="3" name="before"/>
          <p:cNvSpPr/>
          <p:nvPr/>
        </p:nvSpPr>
        <p:spPr>
          <a:xfrm>
            <a:off x="640080" y="1371600"/>
            <a:ext cx="5212080" cy="1920240"/>
          </a:xfrm>
          <a:prstGeom prst="roundRect">
            <a:avLst>
              <a:gd name="adj" fmla="val 3810"/>
            </a:avLst>
          </a:prstGeom>
          <a:solidFill>
            <a:srgbClr val="F1F7F7"/>
          </a:solidFill>
          <a:ln w="12700">
            <a:solidFill>
              <a:srgbClr val="F1F7F7"/>
            </a:solidFill>
            <a:prstDash val="solid"/>
          </a:ln>
        </p:spPr>
      </p:sp>
      <p:sp>
        <p:nvSpPr>
          <p:cNvPr id="4" name="Text 2"/>
          <p:cNvSpPr txBox="1"/>
          <p:nvPr/>
        </p:nvSpPr>
        <p:spPr>
          <a:xfrm>
            <a:off x="960120" y="1600200"/>
            <a:ext cx="4572000" cy="320040"/>
          </a:xfrm>
          <a:prstGeom prst="rect">
            <a:avLst/>
          </a:prstGeom>
          <a:noFill/>
          <a:ln/>
        </p:spPr>
        <p:txBody>
          <a:bodyPr wrap="square" lIns="0" tIns="0" rIns="0" bIns="0" rtlCol="0" anchor="ctr"/>
          <a:lstStyle/>
          <a:p>
            <a:pPr indent="0" marL="0">
              <a:buNone/>
            </a:pPr>
            <a:r>
              <a:rPr lang="en-US" sz="1300" b="1" dirty="0">
                <a:solidFill>
                  <a:srgbClr val="E05263"/>
                </a:solidFill>
              </a:rPr>
              <a:t>Today</a:t>
            </a:r>
            <a:endParaRPr lang="en-US" sz="1300" dirty="0"/>
          </a:p>
        </p:txBody>
      </p:sp>
      <p:sp>
        <p:nvSpPr>
          <p:cNvPr id="5" name="Text 3"/>
          <p:cNvSpPr txBox="1"/>
          <p:nvPr/>
        </p:nvSpPr>
        <p:spPr>
          <a:xfrm>
            <a:off x="960120" y="1965960"/>
            <a:ext cx="4572000" cy="1097280"/>
          </a:xfrm>
          <a:prstGeom prst="rect">
            <a:avLst/>
          </a:prstGeom>
          <a:noFill/>
          <a:ln/>
        </p:spPr>
        <p:txBody>
          <a:bodyPr wrap="square" lIns="0" tIns="0" rIns="0" bIns="0" rtlCol="0" anchor="ctr"/>
          <a:lstStyle/>
          <a:p>
            <a:pPr indent="0" marL="0">
              <a:buNone/>
            </a:pPr>
            <a:r>
              <a:rPr lang="en-US" sz="1400" dirty="0">
                <a:solidFill>
                  <a:schemeClr val="tx1"/>
                </a:solidFill>
              </a:rPr>
              <a:t>A student messages someone that the AC is broken. It is never logged, nobody owns it, and there is no record it was ever reported.</a:t>
            </a:r>
            <a:endParaRPr lang="en-US" sz="1400" dirty="0"/>
          </a:p>
        </p:txBody>
      </p:sp>
      <p:sp>
        <p:nvSpPr>
          <p:cNvPr id="6" name="after"/>
          <p:cNvSpPr/>
          <p:nvPr/>
        </p:nvSpPr>
        <p:spPr>
          <a:xfrm>
            <a:off x="6309360" y="1371600"/>
            <a:ext cx="5212080" cy="1920240"/>
          </a:xfrm>
          <a:prstGeom prst="roundRect">
            <a:avLst>
              <a:gd name="adj" fmla="val 3810"/>
            </a:avLst>
          </a:prstGeom>
          <a:solidFill>
            <a:srgbClr val="E6F4F1"/>
          </a:solidFill>
          <a:ln w="12700">
            <a:solidFill>
              <a:srgbClr val="E6F4F1"/>
            </a:solidFill>
            <a:prstDash val="solid"/>
          </a:ln>
        </p:spPr>
      </p:sp>
      <p:sp>
        <p:nvSpPr>
          <p:cNvPr id="7" name="Text 5"/>
          <p:cNvSpPr txBox="1"/>
          <p:nvPr/>
        </p:nvSpPr>
        <p:spPr>
          <a:xfrm>
            <a:off x="6629400" y="1600200"/>
            <a:ext cx="4572000" cy="320040"/>
          </a:xfrm>
          <a:prstGeom prst="rect">
            <a:avLst/>
          </a:prstGeom>
          <a:noFill/>
          <a:ln/>
        </p:spPr>
        <p:txBody>
          <a:bodyPr wrap="square" lIns="0" tIns="0" rIns="0" bIns="0" rtlCol="0" anchor="ctr"/>
          <a:lstStyle/>
          <a:p>
            <a:pPr indent="0" marL="0">
              <a:buNone/>
            </a:pPr>
            <a:r>
              <a:rPr lang="en-US" sz="1300" b="1" dirty="0">
                <a:solidFill>
                  <a:srgbClr val="028090"/>
                </a:solidFill>
              </a:rPr>
              <a:t>With CampusDesk</a:t>
            </a:r>
            <a:endParaRPr lang="en-US" sz="1300" dirty="0"/>
          </a:p>
        </p:txBody>
      </p:sp>
      <p:sp>
        <p:nvSpPr>
          <p:cNvPr id="8" name="Text 6"/>
          <p:cNvSpPr txBox="1"/>
          <p:nvPr/>
        </p:nvSpPr>
        <p:spPr>
          <a:xfrm>
            <a:off x="6629400" y="1965960"/>
            <a:ext cx="4572000" cy="1097280"/>
          </a:xfrm>
          <a:prstGeom prst="rect">
            <a:avLst/>
          </a:prstGeom>
          <a:noFill/>
          <a:ln/>
        </p:spPr>
        <p:txBody>
          <a:bodyPr wrap="square" lIns="0" tIns="0" rIns="0" bIns="0" rtlCol="0" anchor="ctr"/>
          <a:lstStyle/>
          <a:p>
            <a:pPr indent="0" marL="0">
              <a:buNone/>
            </a:pPr>
            <a:r>
              <a:rPr lang="en-US" sz="1400" dirty="0">
                <a:solidFill>
                  <a:schemeClr val="tx1"/>
                </a:solidFill>
              </a:rPr>
              <a:t>The issue gets a building, room, category, priority and an owner. Staff log what they did. Resolution time becomes measurable.</a:t>
            </a:r>
            <a:endParaRPr lang="en-US" sz="1400" dirty="0"/>
          </a:p>
        </p:txBody>
      </p:sp>
      <p:sp>
        <p:nvSpPr>
          <p:cNvPr id="9" name="Shape 7"/>
          <p:cNvSpPr/>
          <p:nvPr/>
        </p:nvSpPr>
        <p:spPr>
          <a:xfrm>
            <a:off x="640080" y="3931920"/>
            <a:ext cx="475488" cy="475488"/>
          </a:xfrm>
          <a:prstGeom prst="ellipse">
            <a:avLst/>
          </a:prstGeom>
          <a:solidFill>
            <a:srgbClr val="028090"/>
          </a:solidFill>
          <a:ln w="12700">
            <a:solidFill>
              <a:srgbClr val="028090"/>
            </a:solidFill>
            <a:prstDash val="solid"/>
          </a:ln>
        </p:spPr>
      </p:sp>
      <p:sp>
        <p:nvSpPr>
          <p:cNvPr id="10" name="Text 8"/>
          <p:cNvSpPr txBox="1"/>
          <p:nvPr/>
        </p:nvSpPr>
        <p:spPr>
          <a:xfrm>
            <a:off x="640080" y="39319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txBox="1"/>
          <p:nvPr/>
        </p:nvSpPr>
        <p:spPr>
          <a:xfrm>
            <a:off x="1261872" y="3931920"/>
            <a:ext cx="2011680" cy="274320"/>
          </a:xfrm>
          <a:prstGeom prst="rect">
            <a:avLst/>
          </a:prstGeom>
          <a:noFill/>
          <a:ln/>
        </p:spPr>
        <p:txBody>
          <a:bodyPr wrap="square" lIns="0" tIns="0" rIns="0" bIns="0" rtlCol="0" anchor="ctr"/>
          <a:lstStyle/>
          <a:p>
            <a:pPr indent="0" marL="0">
              <a:buNone/>
            </a:pPr>
            <a:r>
              <a:rPr lang="en-US" sz="1500" b="1" dirty="0">
                <a:solidFill>
                  <a:schemeClr val="tx1"/>
                </a:solidFill>
              </a:rPr>
              <a:t>Report</a:t>
            </a:r>
            <a:endParaRPr lang="en-US" sz="1500" dirty="0"/>
          </a:p>
        </p:txBody>
      </p:sp>
      <p:sp>
        <p:nvSpPr>
          <p:cNvPr id="12" name="Text 10"/>
          <p:cNvSpPr txBox="1"/>
          <p:nvPr/>
        </p:nvSpPr>
        <p:spPr>
          <a:xfrm>
            <a:off x="1261872" y="4224528"/>
            <a:ext cx="2103120" cy="274320"/>
          </a:xfrm>
          <a:prstGeom prst="rect">
            <a:avLst/>
          </a:prstGeom>
          <a:noFill/>
          <a:ln/>
        </p:spPr>
        <p:txBody>
          <a:bodyPr wrap="square" lIns="0" tIns="0" rIns="0" bIns="0" rtlCol="0" anchor="ctr"/>
          <a:lstStyle/>
          <a:p>
            <a:pPr indent="0" marL="0">
              <a:buNone/>
            </a:pPr>
            <a:r>
              <a:rPr lang="en-US" sz="1100" dirty="0">
                <a:solidFill>
                  <a:srgbClr val="5C6B73"/>
                </a:solidFill>
              </a:rPr>
              <a:t>Student files it</a:t>
            </a:r>
            <a:endParaRPr lang="en-US" sz="1100" dirty="0"/>
          </a:p>
        </p:txBody>
      </p:sp>
      <p:sp>
        <p:nvSpPr>
          <p:cNvPr id="13" name="Shape 11"/>
          <p:cNvSpPr/>
          <p:nvPr/>
        </p:nvSpPr>
        <p:spPr>
          <a:xfrm>
            <a:off x="3429000" y="3931920"/>
            <a:ext cx="475488" cy="475488"/>
          </a:xfrm>
          <a:prstGeom prst="ellipse">
            <a:avLst/>
          </a:prstGeom>
          <a:solidFill>
            <a:srgbClr val="028090"/>
          </a:solidFill>
          <a:ln w="12700">
            <a:solidFill>
              <a:srgbClr val="028090"/>
            </a:solidFill>
            <a:prstDash val="solid"/>
          </a:ln>
        </p:spPr>
      </p:sp>
      <p:sp>
        <p:nvSpPr>
          <p:cNvPr id="14" name="Text 12"/>
          <p:cNvSpPr txBox="1"/>
          <p:nvPr/>
        </p:nvSpPr>
        <p:spPr>
          <a:xfrm>
            <a:off x="3429000" y="39319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txBox="1"/>
          <p:nvPr/>
        </p:nvSpPr>
        <p:spPr>
          <a:xfrm>
            <a:off x="4050792" y="3931920"/>
            <a:ext cx="2011680" cy="274320"/>
          </a:xfrm>
          <a:prstGeom prst="rect">
            <a:avLst/>
          </a:prstGeom>
          <a:noFill/>
          <a:ln/>
        </p:spPr>
        <p:txBody>
          <a:bodyPr wrap="square" lIns="0" tIns="0" rIns="0" bIns="0" rtlCol="0" anchor="ctr"/>
          <a:lstStyle/>
          <a:p>
            <a:pPr indent="0" marL="0">
              <a:buNone/>
            </a:pPr>
            <a:r>
              <a:rPr lang="en-US" sz="1500" b="1" dirty="0">
                <a:solidFill>
                  <a:schemeClr val="tx1"/>
                </a:solidFill>
              </a:rPr>
              <a:t>Triage</a:t>
            </a:r>
            <a:endParaRPr lang="en-US" sz="1500" dirty="0"/>
          </a:p>
        </p:txBody>
      </p:sp>
      <p:sp>
        <p:nvSpPr>
          <p:cNvPr id="16" name="Text 14"/>
          <p:cNvSpPr txBox="1"/>
          <p:nvPr/>
        </p:nvSpPr>
        <p:spPr>
          <a:xfrm>
            <a:off x="4050792" y="4224528"/>
            <a:ext cx="2103120" cy="274320"/>
          </a:xfrm>
          <a:prstGeom prst="rect">
            <a:avLst/>
          </a:prstGeom>
          <a:noFill/>
          <a:ln/>
        </p:spPr>
        <p:txBody>
          <a:bodyPr wrap="square" lIns="0" tIns="0" rIns="0" bIns="0" rtlCol="0" anchor="ctr"/>
          <a:lstStyle/>
          <a:p>
            <a:pPr indent="0" marL="0">
              <a:buNone/>
            </a:pPr>
            <a:r>
              <a:rPr lang="en-US" sz="1100" dirty="0">
                <a:solidFill>
                  <a:srgbClr val="5C6B73"/>
                </a:solidFill>
              </a:rPr>
              <a:t>Staff pick it up</a:t>
            </a:r>
            <a:endParaRPr lang="en-US" sz="1100" dirty="0"/>
          </a:p>
        </p:txBody>
      </p:sp>
      <p:sp>
        <p:nvSpPr>
          <p:cNvPr id="17" name="Shape 15"/>
          <p:cNvSpPr/>
          <p:nvPr/>
        </p:nvSpPr>
        <p:spPr>
          <a:xfrm>
            <a:off x="6217920" y="3931920"/>
            <a:ext cx="475488" cy="475488"/>
          </a:xfrm>
          <a:prstGeom prst="ellipse">
            <a:avLst/>
          </a:prstGeom>
          <a:solidFill>
            <a:srgbClr val="028090"/>
          </a:solidFill>
          <a:ln w="12700">
            <a:solidFill>
              <a:srgbClr val="028090"/>
            </a:solidFill>
            <a:prstDash val="solid"/>
          </a:ln>
        </p:spPr>
      </p:sp>
      <p:sp>
        <p:nvSpPr>
          <p:cNvPr id="18" name="Text 16"/>
          <p:cNvSpPr txBox="1"/>
          <p:nvPr/>
        </p:nvSpPr>
        <p:spPr>
          <a:xfrm>
            <a:off x="6217920" y="39319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txBox="1"/>
          <p:nvPr/>
        </p:nvSpPr>
        <p:spPr>
          <a:xfrm>
            <a:off x="6839712" y="3931920"/>
            <a:ext cx="2011680" cy="274320"/>
          </a:xfrm>
          <a:prstGeom prst="rect">
            <a:avLst/>
          </a:prstGeom>
          <a:noFill/>
          <a:ln/>
        </p:spPr>
        <p:txBody>
          <a:bodyPr wrap="square" lIns="0" tIns="0" rIns="0" bIns="0" rtlCol="0" anchor="ctr"/>
          <a:lstStyle/>
          <a:p>
            <a:pPr indent="0" marL="0">
              <a:buNone/>
            </a:pPr>
            <a:r>
              <a:rPr lang="en-US" sz="1500" b="1" dirty="0">
                <a:solidFill>
                  <a:schemeClr val="tx1"/>
                </a:solidFill>
              </a:rPr>
              <a:t>Worklog</a:t>
            </a:r>
            <a:endParaRPr lang="en-US" sz="1500" dirty="0"/>
          </a:p>
        </p:txBody>
      </p:sp>
      <p:sp>
        <p:nvSpPr>
          <p:cNvPr id="20" name="Text 18"/>
          <p:cNvSpPr txBox="1"/>
          <p:nvPr/>
        </p:nvSpPr>
        <p:spPr>
          <a:xfrm>
            <a:off x="6839712" y="4224528"/>
            <a:ext cx="2103120" cy="274320"/>
          </a:xfrm>
          <a:prstGeom prst="rect">
            <a:avLst/>
          </a:prstGeom>
          <a:noFill/>
          <a:ln/>
        </p:spPr>
        <p:txBody>
          <a:bodyPr wrap="square" lIns="0" tIns="0" rIns="0" bIns="0" rtlCol="0" anchor="ctr"/>
          <a:lstStyle/>
          <a:p>
            <a:pPr indent="0" marL="0">
              <a:buNone/>
            </a:pPr>
            <a:r>
              <a:rPr lang="en-US" sz="1100" dirty="0">
                <a:solidFill>
                  <a:srgbClr val="5C6B73"/>
                </a:solidFill>
              </a:rPr>
              <a:t>Notes as they go</a:t>
            </a:r>
            <a:endParaRPr lang="en-US" sz="1100" dirty="0"/>
          </a:p>
        </p:txBody>
      </p:sp>
      <p:sp>
        <p:nvSpPr>
          <p:cNvPr id="21" name="Shape 19"/>
          <p:cNvSpPr/>
          <p:nvPr/>
        </p:nvSpPr>
        <p:spPr>
          <a:xfrm>
            <a:off x="9006840" y="3931920"/>
            <a:ext cx="475488" cy="475488"/>
          </a:xfrm>
          <a:prstGeom prst="ellipse">
            <a:avLst/>
          </a:prstGeom>
          <a:solidFill>
            <a:srgbClr val="028090"/>
          </a:solidFill>
          <a:ln w="12700">
            <a:solidFill>
              <a:srgbClr val="028090"/>
            </a:solidFill>
            <a:prstDash val="solid"/>
          </a:ln>
        </p:spPr>
      </p:sp>
      <p:sp>
        <p:nvSpPr>
          <p:cNvPr id="22" name="Text 20"/>
          <p:cNvSpPr txBox="1"/>
          <p:nvPr/>
        </p:nvSpPr>
        <p:spPr>
          <a:xfrm>
            <a:off x="9006840" y="39319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1"/>
          <p:cNvSpPr txBox="1"/>
          <p:nvPr/>
        </p:nvSpPr>
        <p:spPr>
          <a:xfrm>
            <a:off x="9628632" y="3931920"/>
            <a:ext cx="2011680" cy="274320"/>
          </a:xfrm>
          <a:prstGeom prst="rect">
            <a:avLst/>
          </a:prstGeom>
          <a:noFill/>
          <a:ln/>
        </p:spPr>
        <p:txBody>
          <a:bodyPr wrap="square" lIns="0" tIns="0" rIns="0" bIns="0" rtlCol="0" anchor="ctr"/>
          <a:lstStyle/>
          <a:p>
            <a:pPr indent="0" marL="0">
              <a:buNone/>
            </a:pPr>
            <a:r>
              <a:rPr lang="en-US" sz="1500" b="1" dirty="0">
                <a:solidFill>
                  <a:schemeClr val="tx1"/>
                </a:solidFill>
              </a:rPr>
              <a:t>Resolve</a:t>
            </a:r>
            <a:endParaRPr lang="en-US" sz="1500" dirty="0"/>
          </a:p>
        </p:txBody>
      </p:sp>
      <p:sp>
        <p:nvSpPr>
          <p:cNvPr id="24" name="Text 22"/>
          <p:cNvSpPr txBox="1"/>
          <p:nvPr/>
        </p:nvSpPr>
        <p:spPr>
          <a:xfrm>
            <a:off x="9628632" y="4224528"/>
            <a:ext cx="2103120" cy="274320"/>
          </a:xfrm>
          <a:prstGeom prst="rect">
            <a:avLst/>
          </a:prstGeom>
          <a:noFill/>
          <a:ln/>
        </p:spPr>
        <p:txBody>
          <a:bodyPr wrap="square" lIns="0" tIns="0" rIns="0" bIns="0" rtlCol="0" anchor="ctr"/>
          <a:lstStyle/>
          <a:p>
            <a:pPr indent="0" marL="0">
              <a:buNone/>
            </a:pPr>
            <a:r>
              <a:rPr lang="en-US" sz="1100" dirty="0">
                <a:solidFill>
                  <a:srgbClr val="5C6B73"/>
                </a:solidFill>
              </a:rPr>
              <a:t>Time recorded</a:t>
            </a:r>
            <a:endParaRPr lang="en-US" sz="1100" dirty="0"/>
          </a:p>
        </p:txBody>
      </p:sp>
      <p:sp>
        <p:nvSpPr>
          <p:cNvPr id="25" name="Text 23"/>
          <p:cNvSpPr txBox="1"/>
          <p:nvPr/>
        </p:nvSpPr>
        <p:spPr>
          <a:xfrm>
            <a:off x="640080" y="5029200"/>
            <a:ext cx="10881360" cy="457200"/>
          </a:xfrm>
          <a:prstGeom prst="rect">
            <a:avLst/>
          </a:prstGeom>
          <a:noFill/>
          <a:ln/>
        </p:spPr>
        <p:txBody>
          <a:bodyPr wrap="square" lIns="0" tIns="0" rIns="0" bIns="0" rtlCol="0" anchor="ctr"/>
          <a:lstStyle/>
          <a:p>
            <a:pPr indent="0" marL="0">
              <a:buNone/>
            </a:pPr>
            <a:r>
              <a:rPr lang="en-US" sz="1300" i="1" dirty="0">
                <a:solidFill>
                  <a:srgbClr val="5C6B73"/>
                </a:solidFill>
              </a:rPr>
              <a:t>Two tables with a foreign key: issues, and the worklog attached to each one. That relationship is what makes average resolution time computable.</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bg1"/>
                </a:solidFill>
              </a:rPr>
              <a:t>Architecture</a:t>
            </a:r>
            <a:endParaRPr lang="en-US" sz="3400" dirty="0"/>
          </a:p>
        </p:txBody>
      </p:sp>
      <p:sp>
        <p:nvSpPr>
          <p:cNvPr id="3" name="tier0"/>
          <p:cNvSpPr/>
          <p:nvPr/>
        </p:nvSpPr>
        <p:spPr>
          <a:xfrm>
            <a:off x="822960" y="1737360"/>
            <a:ext cx="2194560" cy="1371600"/>
          </a:xfrm>
          <a:prstGeom prst="roundRect">
            <a:avLst>
              <a:gd name="adj" fmla="val 5333"/>
            </a:avLst>
          </a:prstGeom>
          <a:solidFill>
            <a:srgbClr val="13343B"/>
          </a:solidFill>
          <a:ln w="19050">
            <a:solidFill>
              <a:srgbClr val="02C39A"/>
            </a:solidFill>
            <a:prstDash val="solid"/>
          </a:ln>
        </p:spPr>
      </p:sp>
      <p:sp>
        <p:nvSpPr>
          <p:cNvPr id="4" name="Text 2"/>
          <p:cNvSpPr txBox="1"/>
          <p:nvPr/>
        </p:nvSpPr>
        <p:spPr>
          <a:xfrm>
            <a:off x="822960" y="1965960"/>
            <a:ext cx="2194560" cy="365760"/>
          </a:xfrm>
          <a:prstGeom prst="rect">
            <a:avLst/>
          </a:prstGeom>
          <a:noFill/>
          <a:ln/>
        </p:spPr>
        <p:txBody>
          <a:bodyPr wrap="square" lIns="0" tIns="0" rIns="0" bIns="0" rtlCol="0" anchor="ctr"/>
          <a:lstStyle/>
          <a:p>
            <a:pPr algn="ctr" indent="0" marL="0">
              <a:buNone/>
            </a:pPr>
            <a:r>
              <a:rPr lang="en-US" sz="1700" b="1" dirty="0">
                <a:solidFill>
                  <a:srgbClr val="02C39A"/>
                </a:solidFill>
              </a:rPr>
              <a:t>Browser</a:t>
            </a:r>
            <a:endParaRPr lang="en-US" sz="1700" dirty="0"/>
          </a:p>
        </p:txBody>
      </p:sp>
      <p:sp>
        <p:nvSpPr>
          <p:cNvPr id="5" name="Text 3"/>
          <p:cNvSpPr txBox="1"/>
          <p:nvPr/>
        </p:nvSpPr>
        <p:spPr>
          <a:xfrm>
            <a:off x="822960" y="2377440"/>
            <a:ext cx="2194560" cy="548640"/>
          </a:xfrm>
          <a:prstGeom prst="rect">
            <a:avLst/>
          </a:prstGeom>
          <a:noFill/>
          <a:ln/>
        </p:spPr>
        <p:txBody>
          <a:bodyPr wrap="square" lIns="0" tIns="0" rIns="0" bIns="0" rtlCol="0" anchor="ctr"/>
          <a:lstStyle/>
          <a:p>
            <a:pPr algn="ctr" indent="0" marL="0">
              <a:buNone/>
            </a:pPr>
            <a:r>
              <a:rPr lang="en-US" sz="1100" dirty="0">
                <a:solidFill>
                  <a:srgbClr val="C9D6D8"/>
                </a:solidFill>
              </a:rPr>
              <a:t>React + Vite</a:t>
            </a:r>
            <a:endParaRPr lang="en-US" sz="1100" dirty="0"/>
          </a:p>
        </p:txBody>
      </p:sp>
      <p:sp>
        <p:nvSpPr>
          <p:cNvPr id="6" name="Text 4"/>
          <p:cNvSpPr txBox="1"/>
          <p:nvPr/>
        </p:nvSpPr>
        <p:spPr>
          <a:xfrm>
            <a:off x="3035808" y="2194560"/>
            <a:ext cx="594360" cy="365760"/>
          </a:xfrm>
          <a:prstGeom prst="rect">
            <a:avLst/>
          </a:prstGeom>
          <a:noFill/>
          <a:ln/>
        </p:spPr>
        <p:txBody>
          <a:bodyPr wrap="square" lIns="0" tIns="0" rIns="0" bIns="0" rtlCol="0" anchor="ctr"/>
          <a:lstStyle/>
          <a:p>
            <a:pPr algn="ctr" indent="0" marL="0">
              <a:buNone/>
            </a:pPr>
            <a:r>
              <a:rPr lang="en-US" sz="1800" b="1" dirty="0">
                <a:solidFill>
                  <a:srgbClr val="5C6B73"/>
                </a:solidFill>
              </a:rPr>
              <a:t>-&gt;</a:t>
            </a:r>
            <a:endParaRPr lang="en-US" sz="1800" dirty="0"/>
          </a:p>
        </p:txBody>
      </p:sp>
      <p:sp>
        <p:nvSpPr>
          <p:cNvPr id="7" name="tier1"/>
          <p:cNvSpPr/>
          <p:nvPr/>
        </p:nvSpPr>
        <p:spPr>
          <a:xfrm>
            <a:off x="3657600" y="1737360"/>
            <a:ext cx="2194560" cy="1371600"/>
          </a:xfrm>
          <a:prstGeom prst="roundRect">
            <a:avLst>
              <a:gd name="adj" fmla="val 5333"/>
            </a:avLst>
          </a:prstGeom>
          <a:solidFill>
            <a:srgbClr val="13343B"/>
          </a:solidFill>
          <a:ln w="19050">
            <a:solidFill>
              <a:srgbClr val="00A896"/>
            </a:solidFill>
            <a:prstDash val="solid"/>
          </a:ln>
        </p:spPr>
      </p:sp>
      <p:sp>
        <p:nvSpPr>
          <p:cNvPr id="8" name="Text 6"/>
          <p:cNvSpPr txBox="1"/>
          <p:nvPr/>
        </p:nvSpPr>
        <p:spPr>
          <a:xfrm>
            <a:off x="3657600" y="1965960"/>
            <a:ext cx="2194560" cy="365760"/>
          </a:xfrm>
          <a:prstGeom prst="rect">
            <a:avLst/>
          </a:prstGeom>
          <a:noFill/>
          <a:ln/>
        </p:spPr>
        <p:txBody>
          <a:bodyPr wrap="square" lIns="0" tIns="0" rIns="0" bIns="0" rtlCol="0" anchor="ctr"/>
          <a:lstStyle/>
          <a:p>
            <a:pPr algn="ctr" indent="0" marL="0">
              <a:buNone/>
            </a:pPr>
            <a:r>
              <a:rPr lang="en-US" sz="1700" b="1" dirty="0">
                <a:solidFill>
                  <a:srgbClr val="00A896"/>
                </a:solidFill>
              </a:rPr>
              <a:t>nginx</a:t>
            </a:r>
            <a:endParaRPr lang="en-US" sz="1700" dirty="0"/>
          </a:p>
        </p:txBody>
      </p:sp>
      <p:sp>
        <p:nvSpPr>
          <p:cNvPr id="9" name="Text 7"/>
          <p:cNvSpPr txBox="1"/>
          <p:nvPr/>
        </p:nvSpPr>
        <p:spPr>
          <a:xfrm>
            <a:off x="3657600" y="2377440"/>
            <a:ext cx="2194560" cy="548640"/>
          </a:xfrm>
          <a:prstGeom prst="rect">
            <a:avLst/>
          </a:prstGeom>
          <a:noFill/>
          <a:ln/>
        </p:spPr>
        <p:txBody>
          <a:bodyPr wrap="square" lIns="0" tIns="0" rIns="0" bIns="0" rtlCol="0" anchor="ctr"/>
          <a:lstStyle/>
          <a:p>
            <a:pPr algn="ctr" indent="0" marL="0">
              <a:buNone/>
            </a:pPr>
            <a:r>
              <a:rPr lang="en-US" sz="1100" dirty="0">
                <a:solidFill>
                  <a:srgbClr val="C9D6D8"/>
                </a:solidFill>
              </a:rPr>
              <a:t>serves SPA, proxies /api</a:t>
            </a:r>
            <a:endParaRPr lang="en-US" sz="1100" dirty="0"/>
          </a:p>
        </p:txBody>
      </p:sp>
      <p:sp>
        <p:nvSpPr>
          <p:cNvPr id="10" name="Text 8"/>
          <p:cNvSpPr txBox="1"/>
          <p:nvPr/>
        </p:nvSpPr>
        <p:spPr>
          <a:xfrm>
            <a:off x="5870448" y="2194560"/>
            <a:ext cx="594360" cy="365760"/>
          </a:xfrm>
          <a:prstGeom prst="rect">
            <a:avLst/>
          </a:prstGeom>
          <a:noFill/>
          <a:ln/>
        </p:spPr>
        <p:txBody>
          <a:bodyPr wrap="square" lIns="0" tIns="0" rIns="0" bIns="0" rtlCol="0" anchor="ctr"/>
          <a:lstStyle/>
          <a:p>
            <a:pPr algn="ctr" indent="0" marL="0">
              <a:buNone/>
            </a:pPr>
            <a:r>
              <a:rPr lang="en-US" sz="1800" b="1" dirty="0">
                <a:solidFill>
                  <a:srgbClr val="5C6B73"/>
                </a:solidFill>
              </a:rPr>
              <a:t>-&gt;</a:t>
            </a:r>
            <a:endParaRPr lang="en-US" sz="1800" dirty="0"/>
          </a:p>
        </p:txBody>
      </p:sp>
      <p:sp>
        <p:nvSpPr>
          <p:cNvPr id="11" name="tier2"/>
          <p:cNvSpPr/>
          <p:nvPr/>
        </p:nvSpPr>
        <p:spPr>
          <a:xfrm>
            <a:off x="6492240" y="1737360"/>
            <a:ext cx="2194560" cy="1371600"/>
          </a:xfrm>
          <a:prstGeom prst="roundRect">
            <a:avLst>
              <a:gd name="adj" fmla="val 5333"/>
            </a:avLst>
          </a:prstGeom>
          <a:solidFill>
            <a:srgbClr val="13343B"/>
          </a:solidFill>
          <a:ln w="19050">
            <a:solidFill>
              <a:srgbClr val="028090"/>
            </a:solidFill>
            <a:prstDash val="solid"/>
          </a:ln>
        </p:spPr>
      </p:sp>
      <p:sp>
        <p:nvSpPr>
          <p:cNvPr id="12" name="Text 10"/>
          <p:cNvSpPr txBox="1"/>
          <p:nvPr/>
        </p:nvSpPr>
        <p:spPr>
          <a:xfrm>
            <a:off x="6492240" y="1965960"/>
            <a:ext cx="2194560" cy="365760"/>
          </a:xfrm>
          <a:prstGeom prst="rect">
            <a:avLst/>
          </a:prstGeom>
          <a:noFill/>
          <a:ln/>
        </p:spPr>
        <p:txBody>
          <a:bodyPr wrap="square" lIns="0" tIns="0" rIns="0" bIns="0" rtlCol="0" anchor="ctr"/>
          <a:lstStyle/>
          <a:p>
            <a:pPr algn="ctr" indent="0" marL="0">
              <a:buNone/>
            </a:pPr>
            <a:r>
              <a:rPr lang="en-US" sz="1700" b="1" dirty="0">
                <a:solidFill>
                  <a:srgbClr val="028090"/>
                </a:solidFill>
              </a:rPr>
              <a:t>FastAPI</a:t>
            </a:r>
            <a:endParaRPr lang="en-US" sz="1700" dirty="0"/>
          </a:p>
        </p:txBody>
      </p:sp>
      <p:sp>
        <p:nvSpPr>
          <p:cNvPr id="13" name="Text 11"/>
          <p:cNvSpPr txBox="1"/>
          <p:nvPr/>
        </p:nvSpPr>
        <p:spPr>
          <a:xfrm>
            <a:off x="6492240" y="2377440"/>
            <a:ext cx="2194560" cy="548640"/>
          </a:xfrm>
          <a:prstGeom prst="rect">
            <a:avLst/>
          </a:prstGeom>
          <a:noFill/>
          <a:ln/>
        </p:spPr>
        <p:txBody>
          <a:bodyPr wrap="square" lIns="0" tIns="0" rIns="0" bIns="0" rtlCol="0" anchor="ctr"/>
          <a:lstStyle/>
          <a:p>
            <a:pPr algn="ctr" indent="0" marL="0">
              <a:buNone/>
            </a:pPr>
            <a:r>
              <a:rPr lang="en-US" sz="1100" dirty="0">
                <a:solidFill>
                  <a:srgbClr val="C9D6D8"/>
                </a:solidFill>
              </a:rPr>
              <a:t>11 endpoints</a:t>
            </a:r>
            <a:endParaRPr lang="en-US" sz="1100" dirty="0"/>
          </a:p>
        </p:txBody>
      </p:sp>
      <p:sp>
        <p:nvSpPr>
          <p:cNvPr id="14" name="Text 12"/>
          <p:cNvSpPr txBox="1"/>
          <p:nvPr/>
        </p:nvSpPr>
        <p:spPr>
          <a:xfrm>
            <a:off x="8705088" y="2194560"/>
            <a:ext cx="594360" cy="365760"/>
          </a:xfrm>
          <a:prstGeom prst="rect">
            <a:avLst/>
          </a:prstGeom>
          <a:noFill/>
          <a:ln/>
        </p:spPr>
        <p:txBody>
          <a:bodyPr wrap="square" lIns="0" tIns="0" rIns="0" bIns="0" rtlCol="0" anchor="ctr"/>
          <a:lstStyle/>
          <a:p>
            <a:pPr algn="ctr" indent="0" marL="0">
              <a:buNone/>
            </a:pPr>
            <a:r>
              <a:rPr lang="en-US" sz="1800" b="1" dirty="0">
                <a:solidFill>
                  <a:srgbClr val="5C6B73"/>
                </a:solidFill>
              </a:rPr>
              <a:t>-&gt;</a:t>
            </a:r>
            <a:endParaRPr lang="en-US" sz="1800" dirty="0"/>
          </a:p>
        </p:txBody>
      </p:sp>
      <p:sp>
        <p:nvSpPr>
          <p:cNvPr id="15" name="tier3"/>
          <p:cNvSpPr/>
          <p:nvPr/>
        </p:nvSpPr>
        <p:spPr>
          <a:xfrm>
            <a:off x="9326880" y="1737360"/>
            <a:ext cx="2194560" cy="1371600"/>
          </a:xfrm>
          <a:prstGeom prst="roundRect">
            <a:avLst>
              <a:gd name="adj" fmla="val 5333"/>
            </a:avLst>
          </a:prstGeom>
          <a:solidFill>
            <a:srgbClr val="13343B"/>
          </a:solidFill>
          <a:ln w="19050">
            <a:solidFill>
              <a:srgbClr val="5C6B73"/>
            </a:solidFill>
            <a:prstDash val="solid"/>
          </a:ln>
        </p:spPr>
      </p:sp>
      <p:sp>
        <p:nvSpPr>
          <p:cNvPr id="16" name="Text 14"/>
          <p:cNvSpPr txBox="1"/>
          <p:nvPr/>
        </p:nvSpPr>
        <p:spPr>
          <a:xfrm>
            <a:off x="9326880" y="1965960"/>
            <a:ext cx="2194560" cy="365760"/>
          </a:xfrm>
          <a:prstGeom prst="rect">
            <a:avLst/>
          </a:prstGeom>
          <a:noFill/>
          <a:ln/>
        </p:spPr>
        <p:txBody>
          <a:bodyPr wrap="square" lIns="0" tIns="0" rIns="0" bIns="0" rtlCol="0" anchor="ctr"/>
          <a:lstStyle/>
          <a:p>
            <a:pPr algn="ctr" indent="0" marL="0">
              <a:buNone/>
            </a:pPr>
            <a:r>
              <a:rPr lang="en-US" sz="1700" b="1" dirty="0">
                <a:solidFill>
                  <a:srgbClr val="5C6B73"/>
                </a:solidFill>
              </a:rPr>
              <a:t>PostgreSQL</a:t>
            </a:r>
            <a:endParaRPr lang="en-US" sz="1700" dirty="0"/>
          </a:p>
        </p:txBody>
      </p:sp>
      <p:sp>
        <p:nvSpPr>
          <p:cNvPr id="17" name="Text 15"/>
          <p:cNvSpPr txBox="1"/>
          <p:nvPr/>
        </p:nvSpPr>
        <p:spPr>
          <a:xfrm>
            <a:off x="9326880" y="2377440"/>
            <a:ext cx="2194560" cy="548640"/>
          </a:xfrm>
          <a:prstGeom prst="rect">
            <a:avLst/>
          </a:prstGeom>
          <a:noFill/>
          <a:ln/>
        </p:spPr>
        <p:txBody>
          <a:bodyPr wrap="square" lIns="0" tIns="0" rIns="0" bIns="0" rtlCol="0" anchor="ctr"/>
          <a:lstStyle/>
          <a:p>
            <a:pPr algn="ctr" indent="0" marL="0">
              <a:buNone/>
            </a:pPr>
            <a:r>
              <a:rPr lang="en-US" sz="1100" dirty="0">
                <a:solidFill>
                  <a:srgbClr val="C9D6D8"/>
                </a:solidFill>
              </a:rPr>
              <a:t>SQLAlchemy + Alembic</a:t>
            </a:r>
            <a:endParaRPr lang="en-US" sz="1100" dirty="0"/>
          </a:p>
        </p:txBody>
      </p:sp>
      <p:sp>
        <p:nvSpPr>
          <p:cNvPr id="18" name="Text 16"/>
          <p:cNvSpPr txBox="1"/>
          <p:nvPr/>
        </p:nvSpPr>
        <p:spPr>
          <a:xfrm>
            <a:off x="640080" y="3566160"/>
            <a:ext cx="5486400" cy="320040"/>
          </a:xfrm>
          <a:prstGeom prst="rect">
            <a:avLst/>
          </a:prstGeom>
          <a:noFill/>
          <a:ln/>
        </p:spPr>
        <p:txBody>
          <a:bodyPr wrap="square" lIns="0" tIns="0" rIns="0" bIns="0" rtlCol="0" anchor="ctr"/>
          <a:lstStyle/>
          <a:p>
            <a:pPr indent="0" marL="0">
              <a:buNone/>
            </a:pPr>
            <a:r>
              <a:rPr lang="en-US" sz="1400" b="1" dirty="0">
                <a:solidFill>
                  <a:srgbClr val="02C39A"/>
                </a:solidFill>
              </a:rPr>
              <a:t>Surrounding it</a:t>
            </a:r>
            <a:endParaRPr lang="en-US" sz="1400" dirty="0"/>
          </a:p>
        </p:txBody>
      </p:sp>
      <p:sp>
        <p:nvSpPr>
          <p:cNvPr id="19" name="ring0"/>
          <p:cNvSpPr/>
          <p:nvPr/>
        </p:nvSpPr>
        <p:spPr>
          <a:xfrm>
            <a:off x="640080" y="3977640"/>
            <a:ext cx="3474720" cy="713232"/>
          </a:xfrm>
          <a:prstGeom prst="roundRect">
            <a:avLst>
              <a:gd name="adj" fmla="val 7692"/>
            </a:avLst>
          </a:prstGeom>
          <a:solidFill>
            <a:srgbClr val="13343B"/>
          </a:solidFill>
          <a:ln w="12700">
            <a:solidFill>
              <a:srgbClr val="13343B"/>
            </a:solidFill>
            <a:prstDash val="solid"/>
          </a:ln>
        </p:spPr>
      </p:sp>
      <p:sp>
        <p:nvSpPr>
          <p:cNvPr id="20" name="Text 18"/>
          <p:cNvSpPr txBox="1"/>
          <p:nvPr/>
        </p:nvSpPr>
        <p:spPr>
          <a:xfrm>
            <a:off x="822960" y="4050792"/>
            <a:ext cx="3108960" cy="274320"/>
          </a:xfrm>
          <a:prstGeom prst="rect">
            <a:avLst/>
          </a:prstGeom>
          <a:noFill/>
          <a:ln/>
        </p:spPr>
        <p:txBody>
          <a:bodyPr wrap="square" lIns="0" tIns="0" rIns="0" bIns="0" rtlCol="0" anchor="ctr"/>
          <a:lstStyle/>
          <a:p>
            <a:pPr indent="0" marL="0">
              <a:buNone/>
            </a:pPr>
            <a:r>
              <a:rPr lang="en-US" sz="1300" b="1" dirty="0">
                <a:solidFill>
                  <a:srgbClr val="FFFFFF"/>
                </a:solidFill>
              </a:rPr>
              <a:t>Docker + Compose</a:t>
            </a:r>
            <a:endParaRPr lang="en-US" sz="1300" dirty="0"/>
          </a:p>
        </p:txBody>
      </p:sp>
      <p:sp>
        <p:nvSpPr>
          <p:cNvPr id="21" name="Text 19"/>
          <p:cNvSpPr txBox="1"/>
          <p:nvPr/>
        </p:nvSpPr>
        <p:spPr>
          <a:xfrm>
            <a:off x="822960" y="4325112"/>
            <a:ext cx="3108960" cy="274320"/>
          </a:xfrm>
          <a:prstGeom prst="rect">
            <a:avLst/>
          </a:prstGeom>
          <a:noFill/>
          <a:ln/>
        </p:spPr>
        <p:txBody>
          <a:bodyPr wrap="square" lIns="0" tIns="0" rIns="0" bIns="0" rtlCol="0" anchor="ctr"/>
          <a:lstStyle/>
          <a:p>
            <a:pPr indent="0" marL="0">
              <a:buNone/>
            </a:pPr>
            <a:r>
              <a:rPr lang="en-US" sz="1000" dirty="0">
                <a:solidFill>
                  <a:srgbClr val="5C6B73"/>
                </a:solidFill>
              </a:rPr>
              <a:t>local stack</a:t>
            </a:r>
            <a:endParaRPr lang="en-US" sz="1000" dirty="0"/>
          </a:p>
        </p:txBody>
      </p:sp>
      <p:sp>
        <p:nvSpPr>
          <p:cNvPr id="22" name="ring1"/>
          <p:cNvSpPr/>
          <p:nvPr/>
        </p:nvSpPr>
        <p:spPr>
          <a:xfrm>
            <a:off x="4343400" y="3977640"/>
            <a:ext cx="3474720" cy="713232"/>
          </a:xfrm>
          <a:prstGeom prst="roundRect">
            <a:avLst>
              <a:gd name="adj" fmla="val 7692"/>
            </a:avLst>
          </a:prstGeom>
          <a:solidFill>
            <a:srgbClr val="13343B"/>
          </a:solidFill>
          <a:ln w="12700">
            <a:solidFill>
              <a:srgbClr val="13343B"/>
            </a:solidFill>
            <a:prstDash val="solid"/>
          </a:ln>
        </p:spPr>
      </p:sp>
      <p:sp>
        <p:nvSpPr>
          <p:cNvPr id="23" name="Text 21"/>
          <p:cNvSpPr txBox="1"/>
          <p:nvPr/>
        </p:nvSpPr>
        <p:spPr>
          <a:xfrm>
            <a:off x="4526280" y="4050792"/>
            <a:ext cx="3108960" cy="274320"/>
          </a:xfrm>
          <a:prstGeom prst="rect">
            <a:avLst/>
          </a:prstGeom>
          <a:noFill/>
          <a:ln/>
        </p:spPr>
        <p:txBody>
          <a:bodyPr wrap="square" lIns="0" tIns="0" rIns="0" bIns="0" rtlCol="0" anchor="ctr"/>
          <a:lstStyle/>
          <a:p>
            <a:pPr indent="0" marL="0">
              <a:buNone/>
            </a:pPr>
            <a:r>
              <a:rPr lang="en-US" sz="1300" b="1" dirty="0">
                <a:solidFill>
                  <a:srgbClr val="FFFFFF"/>
                </a:solidFill>
              </a:rPr>
              <a:t>GitHub Actions</a:t>
            </a:r>
            <a:endParaRPr lang="en-US" sz="1300" dirty="0"/>
          </a:p>
        </p:txBody>
      </p:sp>
      <p:sp>
        <p:nvSpPr>
          <p:cNvPr id="24" name="Text 22"/>
          <p:cNvSpPr txBox="1"/>
          <p:nvPr/>
        </p:nvSpPr>
        <p:spPr>
          <a:xfrm>
            <a:off x="4526280" y="4325112"/>
            <a:ext cx="3108960" cy="274320"/>
          </a:xfrm>
          <a:prstGeom prst="rect">
            <a:avLst/>
          </a:prstGeom>
          <a:noFill/>
          <a:ln/>
        </p:spPr>
        <p:txBody>
          <a:bodyPr wrap="square" lIns="0" tIns="0" rIns="0" bIns="0" rtlCol="0" anchor="ctr"/>
          <a:lstStyle/>
          <a:p>
            <a:pPr indent="0" marL="0">
              <a:buNone/>
            </a:pPr>
            <a:r>
              <a:rPr lang="en-US" sz="1000" dirty="0">
                <a:solidFill>
                  <a:srgbClr val="5C6B73"/>
                </a:solidFill>
              </a:rPr>
              <a:t>test, scan, push, deploy</a:t>
            </a:r>
            <a:endParaRPr lang="en-US" sz="1000" dirty="0"/>
          </a:p>
        </p:txBody>
      </p:sp>
      <p:sp>
        <p:nvSpPr>
          <p:cNvPr id="25" name="ring2"/>
          <p:cNvSpPr/>
          <p:nvPr/>
        </p:nvSpPr>
        <p:spPr>
          <a:xfrm>
            <a:off x="8046720" y="3977640"/>
            <a:ext cx="3474720" cy="713232"/>
          </a:xfrm>
          <a:prstGeom prst="roundRect">
            <a:avLst>
              <a:gd name="adj" fmla="val 7692"/>
            </a:avLst>
          </a:prstGeom>
          <a:solidFill>
            <a:srgbClr val="13343B"/>
          </a:solidFill>
          <a:ln w="12700">
            <a:solidFill>
              <a:srgbClr val="13343B"/>
            </a:solidFill>
            <a:prstDash val="solid"/>
          </a:ln>
        </p:spPr>
      </p:sp>
      <p:sp>
        <p:nvSpPr>
          <p:cNvPr id="26" name="Text 24"/>
          <p:cNvSpPr txBox="1"/>
          <p:nvPr/>
        </p:nvSpPr>
        <p:spPr>
          <a:xfrm>
            <a:off x="8229600" y="4050792"/>
            <a:ext cx="3108960" cy="274320"/>
          </a:xfrm>
          <a:prstGeom prst="rect">
            <a:avLst/>
          </a:prstGeom>
          <a:noFill/>
          <a:ln/>
        </p:spPr>
        <p:txBody>
          <a:bodyPr wrap="square" lIns="0" tIns="0" rIns="0" bIns="0" rtlCol="0" anchor="ctr"/>
          <a:lstStyle/>
          <a:p>
            <a:pPr indent="0" marL="0">
              <a:buNone/>
            </a:pPr>
            <a:r>
              <a:rPr lang="en-US" sz="1300" b="1" dirty="0">
                <a:solidFill>
                  <a:srgbClr val="FFFFFF"/>
                </a:solidFill>
              </a:rPr>
              <a:t>Trivy</a:t>
            </a:r>
            <a:endParaRPr lang="en-US" sz="1300" dirty="0"/>
          </a:p>
        </p:txBody>
      </p:sp>
      <p:sp>
        <p:nvSpPr>
          <p:cNvPr id="27" name="Text 25"/>
          <p:cNvSpPr txBox="1"/>
          <p:nvPr/>
        </p:nvSpPr>
        <p:spPr>
          <a:xfrm>
            <a:off x="8229600" y="4325112"/>
            <a:ext cx="3108960" cy="274320"/>
          </a:xfrm>
          <a:prstGeom prst="rect">
            <a:avLst/>
          </a:prstGeom>
          <a:noFill/>
          <a:ln/>
        </p:spPr>
        <p:txBody>
          <a:bodyPr wrap="square" lIns="0" tIns="0" rIns="0" bIns="0" rtlCol="0" anchor="ctr"/>
          <a:lstStyle/>
          <a:p>
            <a:pPr indent="0" marL="0">
              <a:buNone/>
            </a:pPr>
            <a:r>
              <a:rPr lang="en-US" sz="1000" dirty="0">
                <a:solidFill>
                  <a:srgbClr val="5C6B73"/>
                </a:solidFill>
              </a:rPr>
              <a:t>HIGH/CRITICAL gate</a:t>
            </a:r>
            <a:endParaRPr lang="en-US" sz="1000" dirty="0"/>
          </a:p>
        </p:txBody>
      </p:sp>
      <p:sp>
        <p:nvSpPr>
          <p:cNvPr id="28" name="ring3"/>
          <p:cNvSpPr/>
          <p:nvPr/>
        </p:nvSpPr>
        <p:spPr>
          <a:xfrm>
            <a:off x="640080" y="4846320"/>
            <a:ext cx="3474720" cy="713232"/>
          </a:xfrm>
          <a:prstGeom prst="roundRect">
            <a:avLst>
              <a:gd name="adj" fmla="val 7692"/>
            </a:avLst>
          </a:prstGeom>
          <a:solidFill>
            <a:srgbClr val="13343B"/>
          </a:solidFill>
          <a:ln w="12700">
            <a:solidFill>
              <a:srgbClr val="13343B"/>
            </a:solidFill>
            <a:prstDash val="solid"/>
          </a:ln>
        </p:spPr>
      </p:sp>
      <p:sp>
        <p:nvSpPr>
          <p:cNvPr id="29" name="Text 27"/>
          <p:cNvSpPr txBox="1"/>
          <p:nvPr/>
        </p:nvSpPr>
        <p:spPr>
          <a:xfrm>
            <a:off x="822960" y="4919472"/>
            <a:ext cx="3108960" cy="274320"/>
          </a:xfrm>
          <a:prstGeom prst="rect">
            <a:avLst/>
          </a:prstGeom>
          <a:noFill/>
          <a:ln/>
        </p:spPr>
        <p:txBody>
          <a:bodyPr wrap="square" lIns="0" tIns="0" rIns="0" bIns="0" rtlCol="0" anchor="ctr"/>
          <a:lstStyle/>
          <a:p>
            <a:pPr indent="0" marL="0">
              <a:buNone/>
            </a:pPr>
            <a:r>
              <a:rPr lang="en-US" sz="1300" b="1" dirty="0">
                <a:solidFill>
                  <a:srgbClr val="FFFFFF"/>
                </a:solidFill>
              </a:rPr>
              <a:t>Terraform</a:t>
            </a:r>
            <a:endParaRPr lang="en-US" sz="1300" dirty="0"/>
          </a:p>
        </p:txBody>
      </p:sp>
      <p:sp>
        <p:nvSpPr>
          <p:cNvPr id="30" name="Text 28"/>
          <p:cNvSpPr txBox="1"/>
          <p:nvPr/>
        </p:nvSpPr>
        <p:spPr>
          <a:xfrm>
            <a:off x="822960" y="5193792"/>
            <a:ext cx="3108960" cy="274320"/>
          </a:xfrm>
          <a:prstGeom prst="rect">
            <a:avLst/>
          </a:prstGeom>
          <a:noFill/>
          <a:ln/>
        </p:spPr>
        <p:txBody>
          <a:bodyPr wrap="square" lIns="0" tIns="0" rIns="0" bIns="0" rtlCol="0" anchor="ctr"/>
          <a:lstStyle/>
          <a:p>
            <a:pPr indent="0" marL="0">
              <a:buNone/>
            </a:pPr>
            <a:r>
              <a:rPr lang="en-US" sz="1000" dirty="0">
                <a:solidFill>
                  <a:srgbClr val="5C6B73"/>
                </a:solidFill>
              </a:rPr>
              <a:t>VPC + EKS on AWS</a:t>
            </a:r>
            <a:endParaRPr lang="en-US" sz="1000" dirty="0"/>
          </a:p>
        </p:txBody>
      </p:sp>
      <p:sp>
        <p:nvSpPr>
          <p:cNvPr id="31" name="ring4"/>
          <p:cNvSpPr/>
          <p:nvPr/>
        </p:nvSpPr>
        <p:spPr>
          <a:xfrm>
            <a:off x="4343400" y="4846320"/>
            <a:ext cx="3474720" cy="713232"/>
          </a:xfrm>
          <a:prstGeom prst="roundRect">
            <a:avLst>
              <a:gd name="adj" fmla="val 7692"/>
            </a:avLst>
          </a:prstGeom>
          <a:solidFill>
            <a:srgbClr val="13343B"/>
          </a:solidFill>
          <a:ln w="12700">
            <a:solidFill>
              <a:srgbClr val="13343B"/>
            </a:solidFill>
            <a:prstDash val="solid"/>
          </a:ln>
        </p:spPr>
      </p:sp>
      <p:sp>
        <p:nvSpPr>
          <p:cNvPr id="32" name="Text 30"/>
          <p:cNvSpPr txBox="1"/>
          <p:nvPr/>
        </p:nvSpPr>
        <p:spPr>
          <a:xfrm>
            <a:off x="4526280" y="4919472"/>
            <a:ext cx="3108960" cy="274320"/>
          </a:xfrm>
          <a:prstGeom prst="rect">
            <a:avLst/>
          </a:prstGeom>
          <a:noFill/>
          <a:ln/>
        </p:spPr>
        <p:txBody>
          <a:bodyPr wrap="square" lIns="0" tIns="0" rIns="0" bIns="0" rtlCol="0" anchor="ctr"/>
          <a:lstStyle/>
          <a:p>
            <a:pPr indent="0" marL="0">
              <a:buNone/>
            </a:pPr>
            <a:r>
              <a:rPr lang="en-US" sz="1300" b="1" dirty="0">
                <a:solidFill>
                  <a:srgbClr val="FFFFFF"/>
                </a:solidFill>
              </a:rPr>
              <a:t>Helm</a:t>
            </a:r>
            <a:endParaRPr lang="en-US" sz="1300" dirty="0"/>
          </a:p>
        </p:txBody>
      </p:sp>
      <p:sp>
        <p:nvSpPr>
          <p:cNvPr id="33" name="Text 31"/>
          <p:cNvSpPr txBox="1"/>
          <p:nvPr/>
        </p:nvSpPr>
        <p:spPr>
          <a:xfrm>
            <a:off x="4526280" y="5193792"/>
            <a:ext cx="3108960" cy="274320"/>
          </a:xfrm>
          <a:prstGeom prst="rect">
            <a:avLst/>
          </a:prstGeom>
          <a:noFill/>
          <a:ln/>
        </p:spPr>
        <p:txBody>
          <a:bodyPr wrap="square" lIns="0" tIns="0" rIns="0" bIns="0" rtlCol="0" anchor="ctr"/>
          <a:lstStyle/>
          <a:p>
            <a:pPr indent="0" marL="0">
              <a:buNone/>
            </a:pPr>
            <a:r>
              <a:rPr lang="en-US" sz="1000" dirty="0">
                <a:solidFill>
                  <a:srgbClr val="5C6B73"/>
                </a:solidFill>
              </a:rPr>
              <a:t>2 replicas, Ingress, HPA</a:t>
            </a:r>
            <a:endParaRPr lang="en-US" sz="1000" dirty="0"/>
          </a:p>
        </p:txBody>
      </p:sp>
      <p:sp>
        <p:nvSpPr>
          <p:cNvPr id="34" name="ring5"/>
          <p:cNvSpPr/>
          <p:nvPr/>
        </p:nvSpPr>
        <p:spPr>
          <a:xfrm>
            <a:off x="8046720" y="4846320"/>
            <a:ext cx="3474720" cy="713232"/>
          </a:xfrm>
          <a:prstGeom prst="roundRect">
            <a:avLst>
              <a:gd name="adj" fmla="val 7692"/>
            </a:avLst>
          </a:prstGeom>
          <a:solidFill>
            <a:srgbClr val="13343B"/>
          </a:solidFill>
          <a:ln w="12700">
            <a:solidFill>
              <a:srgbClr val="13343B"/>
            </a:solidFill>
            <a:prstDash val="solid"/>
          </a:ln>
        </p:spPr>
      </p:sp>
      <p:sp>
        <p:nvSpPr>
          <p:cNvPr id="35" name="Text 33"/>
          <p:cNvSpPr txBox="1"/>
          <p:nvPr/>
        </p:nvSpPr>
        <p:spPr>
          <a:xfrm>
            <a:off x="8229600" y="4919472"/>
            <a:ext cx="3108960" cy="274320"/>
          </a:xfrm>
          <a:prstGeom prst="rect">
            <a:avLst/>
          </a:prstGeom>
          <a:noFill/>
          <a:ln/>
        </p:spPr>
        <p:txBody>
          <a:bodyPr wrap="square" lIns="0" tIns="0" rIns="0" bIns="0" rtlCol="0" anchor="ctr"/>
          <a:lstStyle/>
          <a:p>
            <a:pPr indent="0" marL="0">
              <a:buNone/>
            </a:pPr>
            <a:r>
              <a:rPr lang="en-US" sz="1300" b="1" dirty="0">
                <a:solidFill>
                  <a:srgbClr val="FFFFFF"/>
                </a:solidFill>
              </a:rPr>
              <a:t>Prometheus + Grafana</a:t>
            </a:r>
            <a:endParaRPr lang="en-US" sz="1300" dirty="0"/>
          </a:p>
        </p:txBody>
      </p:sp>
      <p:sp>
        <p:nvSpPr>
          <p:cNvPr id="36" name="Text 34"/>
          <p:cNvSpPr txBox="1"/>
          <p:nvPr/>
        </p:nvSpPr>
        <p:spPr>
          <a:xfrm>
            <a:off x="8229600" y="5193792"/>
            <a:ext cx="3108960" cy="274320"/>
          </a:xfrm>
          <a:prstGeom prst="rect">
            <a:avLst/>
          </a:prstGeom>
          <a:noFill/>
          <a:ln/>
        </p:spPr>
        <p:txBody>
          <a:bodyPr wrap="square" lIns="0" tIns="0" rIns="0" bIns="0" rtlCol="0" anchor="ctr"/>
          <a:lstStyle/>
          <a:p>
            <a:pPr indent="0" marL="0">
              <a:buNone/>
            </a:pPr>
            <a:r>
              <a:rPr lang="en-US" sz="1000" dirty="0">
                <a:solidFill>
                  <a:srgbClr val="5C6B73"/>
                </a:solidFill>
              </a:rPr>
              <a:t>metrics and dashboard</a:t>
            </a:r>
            <a:endParaRPr lang="en-US" sz="1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Application and tests</a:t>
            </a:r>
            <a:endParaRPr lang="en-US" sz="3400" dirty="0"/>
          </a:p>
        </p:txBody>
      </p:sp>
      <p:sp>
        <p:nvSpPr>
          <p:cNvPr id="3" name="Text 1"/>
          <p:cNvSpPr txBox="1"/>
          <p:nvPr/>
        </p:nvSpPr>
        <p:spPr>
          <a:xfrm>
            <a:off x="640080" y="1371600"/>
            <a:ext cx="2560320" cy="868680"/>
          </a:xfrm>
          <a:prstGeom prst="rect">
            <a:avLst/>
          </a:prstGeom>
          <a:noFill/>
          <a:ln/>
        </p:spPr>
        <p:txBody>
          <a:bodyPr wrap="square" lIns="0" tIns="0" rIns="0" bIns="0" rtlCol="0" anchor="ctr"/>
          <a:lstStyle/>
          <a:p>
            <a:pPr algn="ctr" indent="0" marL="0">
              <a:buNone/>
            </a:pPr>
            <a:r>
              <a:rPr lang="en-US" sz="5400" b="1" dirty="0">
                <a:solidFill>
                  <a:srgbClr val="028090"/>
                </a:solidFill>
              </a:rPr>
              <a:t>11</a:t>
            </a:r>
            <a:endParaRPr lang="en-US" sz="5400" dirty="0"/>
          </a:p>
        </p:txBody>
      </p:sp>
      <p:sp>
        <p:nvSpPr>
          <p:cNvPr id="4" name="Text 2"/>
          <p:cNvSpPr txBox="1"/>
          <p:nvPr/>
        </p:nvSpPr>
        <p:spPr>
          <a:xfrm>
            <a:off x="640080" y="2240280"/>
            <a:ext cx="2560320" cy="411480"/>
          </a:xfrm>
          <a:prstGeom prst="rect">
            <a:avLst/>
          </a:prstGeom>
          <a:noFill/>
          <a:ln/>
        </p:spPr>
        <p:txBody>
          <a:bodyPr wrap="square" lIns="0" tIns="0" rIns="0" bIns="0" rtlCol="0" anchor="ctr"/>
          <a:lstStyle/>
          <a:p>
            <a:pPr algn="ctr" indent="0" marL="0">
              <a:buNone/>
            </a:pPr>
            <a:r>
              <a:rPr lang="en-US" sz="1200" dirty="0">
                <a:solidFill>
                  <a:srgbClr val="5C6B73"/>
                </a:solidFill>
              </a:rPr>
              <a:t>REST ENDPOINTS</a:t>
            </a:r>
            <a:endParaRPr lang="en-US" sz="1200" dirty="0"/>
          </a:p>
        </p:txBody>
      </p:sp>
      <p:sp>
        <p:nvSpPr>
          <p:cNvPr id="5" name="Text 3"/>
          <p:cNvSpPr txBox="1"/>
          <p:nvPr/>
        </p:nvSpPr>
        <p:spPr>
          <a:xfrm>
            <a:off x="3337560" y="1371600"/>
            <a:ext cx="2560320" cy="868680"/>
          </a:xfrm>
          <a:prstGeom prst="rect">
            <a:avLst/>
          </a:prstGeom>
          <a:noFill/>
          <a:ln/>
        </p:spPr>
        <p:txBody>
          <a:bodyPr wrap="square" lIns="0" tIns="0" rIns="0" bIns="0" rtlCol="0" anchor="ctr"/>
          <a:lstStyle/>
          <a:p>
            <a:pPr algn="ctr" indent="0" marL="0">
              <a:buNone/>
            </a:pPr>
            <a:r>
              <a:rPr lang="en-US" sz="5400" b="1" dirty="0">
                <a:solidFill>
                  <a:srgbClr val="00A896"/>
                </a:solidFill>
              </a:rPr>
              <a:t>24</a:t>
            </a:r>
            <a:endParaRPr lang="en-US" sz="5400" dirty="0"/>
          </a:p>
        </p:txBody>
      </p:sp>
      <p:sp>
        <p:nvSpPr>
          <p:cNvPr id="6" name="Text 4"/>
          <p:cNvSpPr txBox="1"/>
          <p:nvPr/>
        </p:nvSpPr>
        <p:spPr>
          <a:xfrm>
            <a:off x="3337560" y="2240280"/>
            <a:ext cx="2560320" cy="411480"/>
          </a:xfrm>
          <a:prstGeom prst="rect">
            <a:avLst/>
          </a:prstGeom>
          <a:noFill/>
          <a:ln/>
        </p:spPr>
        <p:txBody>
          <a:bodyPr wrap="square" lIns="0" tIns="0" rIns="0" bIns="0" rtlCol="0" anchor="ctr"/>
          <a:lstStyle/>
          <a:p>
            <a:pPr algn="ctr" indent="0" marL="0">
              <a:buNone/>
            </a:pPr>
            <a:r>
              <a:rPr lang="en-US" sz="1200" dirty="0">
                <a:solidFill>
                  <a:srgbClr val="5C6B73"/>
                </a:solidFill>
              </a:rPr>
              <a:t>TESTS PASSING</a:t>
            </a:r>
            <a:endParaRPr lang="en-US" sz="1200" dirty="0"/>
          </a:p>
        </p:txBody>
      </p:sp>
      <p:sp>
        <p:nvSpPr>
          <p:cNvPr id="7" name="Text 5"/>
          <p:cNvSpPr txBox="1"/>
          <p:nvPr/>
        </p:nvSpPr>
        <p:spPr>
          <a:xfrm>
            <a:off x="6035040" y="1371600"/>
            <a:ext cx="2560320" cy="868680"/>
          </a:xfrm>
          <a:prstGeom prst="rect">
            <a:avLst/>
          </a:prstGeom>
          <a:noFill/>
          <a:ln/>
        </p:spPr>
        <p:txBody>
          <a:bodyPr wrap="square" lIns="0" tIns="0" rIns="0" bIns="0" rtlCol="0" anchor="ctr"/>
          <a:lstStyle/>
          <a:p>
            <a:pPr algn="ctr" indent="0" marL="0">
              <a:buNone/>
            </a:pPr>
            <a:r>
              <a:rPr lang="en-US" sz="5400" b="1" dirty="0">
                <a:solidFill>
                  <a:srgbClr val="02C39A"/>
                </a:solidFill>
              </a:rPr>
              <a:t>2</a:t>
            </a:r>
            <a:endParaRPr lang="en-US" sz="5400" dirty="0"/>
          </a:p>
        </p:txBody>
      </p:sp>
      <p:sp>
        <p:nvSpPr>
          <p:cNvPr id="8" name="Text 6"/>
          <p:cNvSpPr txBox="1"/>
          <p:nvPr/>
        </p:nvSpPr>
        <p:spPr>
          <a:xfrm>
            <a:off x="6035040" y="2240280"/>
            <a:ext cx="2560320" cy="411480"/>
          </a:xfrm>
          <a:prstGeom prst="rect">
            <a:avLst/>
          </a:prstGeom>
          <a:noFill/>
          <a:ln/>
        </p:spPr>
        <p:txBody>
          <a:bodyPr wrap="square" lIns="0" tIns="0" rIns="0" bIns="0" rtlCol="0" anchor="ctr"/>
          <a:lstStyle/>
          <a:p>
            <a:pPr algn="ctr" indent="0" marL="0">
              <a:buNone/>
            </a:pPr>
            <a:r>
              <a:rPr lang="en-US" sz="1200" dirty="0">
                <a:solidFill>
                  <a:srgbClr val="5C6B73"/>
                </a:solidFill>
              </a:rPr>
              <a:t>TABLES, ONE FK</a:t>
            </a:r>
            <a:endParaRPr lang="en-US" sz="1200" dirty="0"/>
          </a:p>
        </p:txBody>
      </p:sp>
      <p:sp>
        <p:nvSpPr>
          <p:cNvPr id="9" name="Text 7"/>
          <p:cNvSpPr txBox="1"/>
          <p:nvPr/>
        </p:nvSpPr>
        <p:spPr>
          <a:xfrm>
            <a:off x="8732520" y="1371600"/>
            <a:ext cx="2560320" cy="868680"/>
          </a:xfrm>
          <a:prstGeom prst="rect">
            <a:avLst/>
          </a:prstGeom>
          <a:noFill/>
          <a:ln/>
        </p:spPr>
        <p:txBody>
          <a:bodyPr wrap="square" lIns="0" tIns="0" rIns="0" bIns="0" rtlCol="0" anchor="ctr"/>
          <a:lstStyle/>
          <a:p>
            <a:pPr algn="ctr" indent="0" marL="0">
              <a:buNone/>
            </a:pPr>
            <a:r>
              <a:rPr lang="en-US" sz="5400" b="1" dirty="0">
                <a:solidFill>
                  <a:srgbClr val="F0A202"/>
                </a:solidFill>
              </a:rPr>
              <a:t>4</a:t>
            </a:r>
            <a:endParaRPr lang="en-US" sz="5400" dirty="0"/>
          </a:p>
        </p:txBody>
      </p:sp>
      <p:sp>
        <p:nvSpPr>
          <p:cNvPr id="10" name="Text 8"/>
          <p:cNvSpPr txBox="1"/>
          <p:nvPr/>
        </p:nvSpPr>
        <p:spPr>
          <a:xfrm>
            <a:off x="8732520" y="2240280"/>
            <a:ext cx="2560320" cy="411480"/>
          </a:xfrm>
          <a:prstGeom prst="rect">
            <a:avLst/>
          </a:prstGeom>
          <a:noFill/>
          <a:ln/>
        </p:spPr>
        <p:txBody>
          <a:bodyPr wrap="square" lIns="0" tIns="0" rIns="0" bIns="0" rtlCol="0" anchor="ctr"/>
          <a:lstStyle/>
          <a:p>
            <a:pPr algn="ctr" indent="0" marL="0">
              <a:buNone/>
            </a:pPr>
            <a:r>
              <a:rPr lang="en-US" sz="1200" dirty="0">
                <a:solidFill>
                  <a:srgbClr val="5C6B73"/>
                </a:solidFill>
              </a:rPr>
              <a:t>CUSTOM METRICS</a:t>
            </a:r>
            <a:endParaRPr lang="en-US" sz="1200" dirty="0"/>
          </a:p>
        </p:txBody>
      </p:sp>
      <p:sp>
        <p:nvSpPr>
          <p:cNvPr id="11" name="api"/>
          <p:cNvSpPr/>
          <p:nvPr/>
        </p:nvSpPr>
        <p:spPr>
          <a:xfrm>
            <a:off x="640080" y="3017520"/>
            <a:ext cx="5303520" cy="2377440"/>
          </a:xfrm>
          <a:prstGeom prst="roundRect">
            <a:avLst>
              <a:gd name="adj" fmla="val 3077"/>
            </a:avLst>
          </a:prstGeom>
          <a:solidFill>
            <a:srgbClr val="F1F7F7"/>
          </a:solidFill>
          <a:ln w="12700">
            <a:solidFill>
              <a:srgbClr val="F1F7F7"/>
            </a:solidFill>
            <a:prstDash val="solid"/>
          </a:ln>
        </p:spPr>
      </p:sp>
      <p:sp>
        <p:nvSpPr>
          <p:cNvPr id="12" name="Text 10"/>
          <p:cNvSpPr txBox="1"/>
          <p:nvPr/>
        </p:nvSpPr>
        <p:spPr>
          <a:xfrm>
            <a:off x="914400" y="3200400"/>
            <a:ext cx="4572000" cy="274320"/>
          </a:xfrm>
          <a:prstGeom prst="rect">
            <a:avLst/>
          </a:prstGeom>
          <a:noFill/>
          <a:ln/>
        </p:spPr>
        <p:txBody>
          <a:bodyPr wrap="square" lIns="0" tIns="0" rIns="0" bIns="0" rtlCol="0" anchor="ctr"/>
          <a:lstStyle/>
          <a:p>
            <a:pPr indent="0" marL="0">
              <a:buNone/>
            </a:pPr>
            <a:r>
              <a:rPr lang="en-US" sz="1400" b="1" dirty="0">
                <a:solidFill>
                  <a:srgbClr val="028090"/>
                </a:solidFill>
              </a:rPr>
              <a:t>The API</a:t>
            </a:r>
            <a:endParaRPr lang="en-US" sz="1400" dirty="0"/>
          </a:p>
        </p:txBody>
      </p:sp>
      <p:sp>
        <p:nvSpPr>
          <p:cNvPr id="13" name="Text 11"/>
          <p:cNvSpPr txBox="1"/>
          <p:nvPr/>
        </p:nvSpPr>
        <p:spPr>
          <a:xfrm>
            <a:off x="914400" y="3520440"/>
            <a:ext cx="4846320" cy="1737360"/>
          </a:xfrm>
          <a:prstGeom prst="rect">
            <a:avLst/>
          </a:prstGeom>
          <a:noFill/>
          <a:ln/>
        </p:spPr>
        <p:txBody>
          <a:bodyPr wrap="square" lIns="0" tIns="0" rIns="0" bIns="0" rtlCol="0" anchor="ctr"/>
          <a:lstStyle/>
          <a:p>
            <a:pPr indent="0" marL="0">
              <a:lnSpc>
                <a:spcPts val="1600"/>
              </a:lnSpc>
              <a:buNone/>
            </a:pPr>
            <a:r>
              <a:rPr lang="en-US" sz="1100" dirty="0">
                <a:solidFill>
                  <a:schemeClr val="tx1"/>
                </a:solidFill>
                <a:latin typeface="Courier New" pitchFamily="34" charset="0"/>
                <a:ea typeface="Courier New" pitchFamily="34" charset="-122"/>
                <a:cs typeface="Courier New" pitchFamily="34" charset="-120"/>
              </a:rPr>
              <a:t>GET  /health   liveness, never touches the DB</a:t>
            </a:r>
            <a:endParaRPr lang="en-US" sz="1100" dirty="0"/>
          </a:p>
          <a:p>
            <a:pPr indent="0" marL="0">
              <a:lnSpc>
                <a:spcPts val="1600"/>
              </a:lnSpc>
              <a:buNone/>
            </a:pPr>
            <a:r>
              <a:rPr lang="en-US" sz="1100" dirty="0">
                <a:solidFill>
                  <a:schemeClr val="tx1"/>
                </a:solidFill>
                <a:latin typeface="Courier New" pitchFamily="34" charset="0"/>
                <a:ea typeface="Courier New" pitchFamily="34" charset="-122"/>
                <a:cs typeface="Courier New" pitchFamily="34" charset="-120"/>
              </a:rPr>
              <a:t>GET  /ready    readiness, does check the DB</a:t>
            </a:r>
            <a:endParaRPr lang="en-US" sz="1100" dirty="0"/>
          </a:p>
          <a:p>
            <a:pPr indent="0" marL="0">
              <a:lnSpc>
                <a:spcPts val="1600"/>
              </a:lnSpc>
              <a:buNone/>
            </a:pPr>
            <a:r>
              <a:rPr lang="en-US" sz="1100" dirty="0">
                <a:solidFill>
                  <a:schemeClr val="tx1"/>
                </a:solidFill>
                <a:latin typeface="Courier New" pitchFamily="34" charset="0"/>
                <a:ea typeface="Courier New" pitchFamily="34" charset="-122"/>
                <a:cs typeface="Courier New" pitchFamily="34" charset="-120"/>
              </a:rPr>
              <a:t>GET/POST       /api/issues   (email required)</a:t>
            </a:r>
            <a:endParaRPr lang="en-US" sz="1100" dirty="0"/>
          </a:p>
          <a:p>
            <a:pPr indent="0" marL="0">
              <a:lnSpc>
                <a:spcPts val="1600"/>
              </a:lnSpc>
              <a:buNone/>
            </a:pPr>
            <a:r>
              <a:rPr lang="en-US" sz="1100" dirty="0">
                <a:solidFill>
                  <a:schemeClr val="tx1"/>
                </a:solidFill>
                <a:latin typeface="Courier New" pitchFamily="34" charset="0"/>
                <a:ea typeface="Courier New" pitchFamily="34" charset="-122"/>
                <a:cs typeface="Courier New" pitchFamily="34" charset="-120"/>
              </a:rPr>
              <a:t>PUT/DELETE     /api/issues/{id}</a:t>
            </a:r>
            <a:endParaRPr lang="en-US" sz="1100" dirty="0"/>
          </a:p>
          <a:p>
            <a:pPr indent="0" marL="0">
              <a:lnSpc>
                <a:spcPts val="1600"/>
              </a:lnSpc>
              <a:buNone/>
            </a:pPr>
            <a:r>
              <a:rPr lang="en-US" sz="1100" dirty="0">
                <a:solidFill>
                  <a:schemeClr val="tx1"/>
                </a:solidFill>
                <a:latin typeface="Courier New" pitchFamily="34" charset="0"/>
                <a:ea typeface="Courier New" pitchFamily="34" charset="-122"/>
                <a:cs typeface="Courier New" pitchFamily="34" charset="-120"/>
              </a:rPr>
              <a:t>GET/POST       /api/issues/{id}/updates</a:t>
            </a:r>
            <a:endParaRPr lang="en-US" sz="1100" dirty="0"/>
          </a:p>
          <a:p>
            <a:pPr indent="0" marL="0">
              <a:lnSpc>
                <a:spcPts val="1600"/>
              </a:lnSpc>
              <a:buNone/>
            </a:pPr>
            <a:r>
              <a:rPr lang="en-US" sz="1100" dirty="0">
                <a:solidFill>
                  <a:schemeClr val="tx1"/>
                </a:solidFill>
                <a:latin typeface="Courier New" pitchFamily="34" charset="0"/>
                <a:ea typeface="Courier New" pitchFamily="34" charset="-122"/>
                <a:cs typeface="Courier New" pitchFamily="34" charset="-120"/>
              </a:rPr>
              <a:t>GET            /api/stats</a:t>
            </a:r>
            <a:endParaRPr lang="en-US" sz="1100" dirty="0"/>
          </a:p>
        </p:txBody>
      </p:sp>
      <p:sp>
        <p:nvSpPr>
          <p:cNvPr id="14" name="testing"/>
          <p:cNvSpPr/>
          <p:nvPr/>
        </p:nvSpPr>
        <p:spPr>
          <a:xfrm>
            <a:off x="6309360" y="3017520"/>
            <a:ext cx="5212080" cy="2377440"/>
          </a:xfrm>
          <a:prstGeom prst="roundRect">
            <a:avLst>
              <a:gd name="adj" fmla="val 3077"/>
            </a:avLst>
          </a:prstGeom>
          <a:solidFill>
            <a:srgbClr val="E6F4F1"/>
          </a:solidFill>
          <a:ln w="12700">
            <a:solidFill>
              <a:srgbClr val="E6F4F1"/>
            </a:solidFill>
            <a:prstDash val="solid"/>
          </a:ln>
        </p:spPr>
      </p:sp>
      <p:sp>
        <p:nvSpPr>
          <p:cNvPr id="15" name="Text 13"/>
          <p:cNvSpPr txBox="1"/>
          <p:nvPr/>
        </p:nvSpPr>
        <p:spPr>
          <a:xfrm>
            <a:off x="6583680" y="3200400"/>
            <a:ext cx="4572000" cy="274320"/>
          </a:xfrm>
          <a:prstGeom prst="rect">
            <a:avLst/>
          </a:prstGeom>
          <a:noFill/>
          <a:ln/>
        </p:spPr>
        <p:txBody>
          <a:bodyPr wrap="square" lIns="0" tIns="0" rIns="0" bIns="0" rtlCol="0" anchor="ctr"/>
          <a:lstStyle/>
          <a:p>
            <a:pPr indent="0" marL="0">
              <a:buNone/>
            </a:pPr>
            <a:r>
              <a:rPr lang="en-US" sz="1400" b="1" dirty="0">
                <a:solidFill>
                  <a:srgbClr val="028090"/>
                </a:solidFill>
              </a:rPr>
              <a:t>Why the tests are trustworthy</a:t>
            </a:r>
            <a:endParaRPr lang="en-US" sz="1400" dirty="0"/>
          </a:p>
        </p:txBody>
      </p:sp>
      <p:sp>
        <p:nvSpPr>
          <p:cNvPr id="16" name="Text 14"/>
          <p:cNvSpPr txBox="1"/>
          <p:nvPr/>
        </p:nvSpPr>
        <p:spPr>
          <a:xfrm>
            <a:off x="6583680" y="3566160"/>
            <a:ext cx="4663440" cy="16459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chemeClr val="tx1"/>
                </a:solidFill>
              </a:rPr>
              <a:t>TESTING=1 is set before any app module imports, so the production engine is never built</a:t>
            </a:r>
            <a:endParaRPr lang="en-US" sz="1200" dirty="0"/>
          </a:p>
          <a:p>
            <a:pPr marL="342900" indent="-342900">
              <a:spcAft>
                <a:spcPts val="600"/>
              </a:spcAft>
              <a:buSzPct val="100000"/>
              <a:buChar char="•"/>
            </a:pPr>
            <a:r>
              <a:rPr lang="en-US" sz="1200" dirty="0">
                <a:solidFill>
                  <a:schemeClr val="tx1"/>
                </a:solidFill>
              </a:rPr>
              <a:t>Each test gets a fresh in-memory SQLite DB held open with StaticPool</a:t>
            </a:r>
            <a:endParaRPr lang="en-US" sz="1200" dirty="0"/>
          </a:p>
          <a:p>
            <a:pPr marL="342900" indent="-342900">
              <a:spcAft>
                <a:spcPts val="600"/>
              </a:spcAft>
              <a:buSzPct val="100000"/>
              <a:buChar char="•"/>
            </a:pPr>
            <a:r>
              <a:rPr lang="en-US" sz="1200" dirty="0">
                <a:solidFill>
                  <a:schemeClr val="tx1"/>
                </a:solidFill>
              </a:rPr>
              <a:t>PRAGMA foreign_keys=ON per connection, or the cascade test would pass for the wrong reason</a:t>
            </a:r>
            <a:endParaRPr lang="en-US" sz="1200" dirty="0"/>
          </a:p>
          <a:p>
            <a:pPr marL="342900" indent="-342900">
              <a:spcAft>
                <a:spcPts val="600"/>
              </a:spcAft>
              <a:buSzPct val="100000"/>
              <a:buChar char="•"/>
            </a:pPr>
            <a:r>
              <a:rPr lang="en-US" sz="1200" dirty="0">
                <a:solidFill>
                  <a:schemeClr val="tx1"/>
                </a:solidFill>
              </a:rPr>
              <a:t>Student mode hides the staff controls; admin mode unlocks them - a demo gate, not security</a:t>
            </a:r>
            <a:endParaRPr lang="en-US" sz="12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Two modes, one page</a:t>
            </a:r>
            <a:endParaRPr lang="en-US" sz="3400" dirty="0"/>
          </a:p>
        </p:txBody>
      </p:sp>
      <p:pic>
        <p:nvPicPr>
          <p:cNvPr id="3" name="Image 0" descr="/Users/lakshayjagga/Desktop/College Stuff/DevOps/session21-devops-capstone-final/screenshots/01-dashboard-student.png">    </p:cNvPr>
          <p:cNvPicPr>
            <a:picLocks noChangeAspect="1"/>
          </p:cNvPicPr>
          <p:nvPr/>
        </p:nvPicPr>
        <p:blipFill>
          <a:blip r:embed="rId1"/>
          <a:stretch>
            <a:fillRect/>
          </a:stretch>
        </p:blipFill>
        <p:spPr>
          <a:xfrm>
            <a:off x="640080" y="1280160"/>
            <a:ext cx="5394960" cy="3374136"/>
          </a:xfrm>
          <a:prstGeom prst="rect">
            <a:avLst/>
          </a:prstGeom>
        </p:spPr>
      </p:pic>
      <p:sp>
        <p:nvSpPr>
          <p:cNvPr id="4" name="Text 1"/>
          <p:cNvSpPr txBox="1"/>
          <p:nvPr/>
        </p:nvSpPr>
        <p:spPr>
          <a:xfrm>
            <a:off x="640080" y="4754880"/>
            <a:ext cx="5394960" cy="320040"/>
          </a:xfrm>
          <a:prstGeom prst="rect">
            <a:avLst/>
          </a:prstGeom>
          <a:noFill/>
          <a:ln/>
        </p:spPr>
        <p:txBody>
          <a:bodyPr wrap="square" lIns="0" tIns="0" rIns="0" bIns="0" rtlCol="0" anchor="ctr"/>
          <a:lstStyle/>
          <a:p>
            <a:pPr indent="0" marL="0">
              <a:buNone/>
            </a:pPr>
            <a:r>
              <a:rPr lang="en-US" sz="1200" dirty="0">
                <a:solidFill>
                  <a:srgbClr val="5C6B73"/>
                </a:solidFill>
              </a:rPr>
              <a:t>Student mode - browse, filter, report. No staff controls.</a:t>
            </a:r>
            <a:endParaRPr lang="en-US" sz="1200" dirty="0"/>
          </a:p>
        </p:txBody>
      </p:sp>
      <p:pic>
        <p:nvPicPr>
          <p:cNvPr id="5" name="Image 1" descr="/Users/lakshayjagga/Desktop/College Stuff/DevOps/session21-devops-capstone-final/screenshots/04-dashboard-admin.png">    </p:cNvPr>
          <p:cNvPicPr>
            <a:picLocks noChangeAspect="1"/>
          </p:cNvPicPr>
          <p:nvPr/>
        </p:nvPicPr>
        <p:blipFill>
          <a:blip r:embed="rId2"/>
          <a:stretch>
            <a:fillRect/>
          </a:stretch>
        </p:blipFill>
        <p:spPr>
          <a:xfrm>
            <a:off x="6172200" y="1280160"/>
            <a:ext cx="5394960" cy="3374136"/>
          </a:xfrm>
          <a:prstGeom prst="rect">
            <a:avLst/>
          </a:prstGeom>
        </p:spPr>
      </p:pic>
      <p:sp>
        <p:nvSpPr>
          <p:cNvPr id="6" name="Text 2"/>
          <p:cNvSpPr txBox="1"/>
          <p:nvPr/>
        </p:nvSpPr>
        <p:spPr>
          <a:xfrm>
            <a:off x="6172200" y="4754880"/>
            <a:ext cx="5394960" cy="320040"/>
          </a:xfrm>
          <a:prstGeom prst="rect">
            <a:avLst/>
          </a:prstGeom>
          <a:noFill/>
          <a:ln/>
        </p:spPr>
        <p:txBody>
          <a:bodyPr wrap="square" lIns="0" tIns="0" rIns="0" bIns="0" rtlCol="0" anchor="ctr"/>
          <a:lstStyle/>
          <a:p>
            <a:pPr indent="0" marL="0">
              <a:buNone/>
            </a:pPr>
            <a:r>
              <a:rPr lang="en-US" sz="1200" dirty="0">
                <a:solidFill>
                  <a:srgbClr val="5C6B73"/>
                </a:solidFill>
              </a:rPr>
              <a:t>Admin mode - unlocked with a password, actions column appears.</a:t>
            </a:r>
            <a:endParaRPr lang="en-US" sz="1200" dirty="0"/>
          </a:p>
        </p:txBody>
      </p:sp>
      <p:sp>
        <p:nvSpPr>
          <p:cNvPr id="7" name="Text 3"/>
          <p:cNvSpPr txBox="1"/>
          <p:nvPr/>
        </p:nvSpPr>
        <p:spPr>
          <a:xfrm>
            <a:off x="640080" y="5212080"/>
            <a:ext cx="10881360" cy="640080"/>
          </a:xfrm>
          <a:prstGeom prst="rect">
            <a:avLst/>
          </a:prstGeom>
          <a:noFill/>
          <a:ln/>
        </p:spPr>
        <p:txBody>
          <a:bodyPr wrap="square" lIns="0" tIns="0" rIns="0" bIns="0" rtlCol="0" anchor="ctr"/>
          <a:lstStyle/>
          <a:p>
            <a:pPr indent="0" marL="0">
              <a:buNone/>
            </a:pPr>
            <a:r>
              <a:rPr lang="en-US" sz="1100" i="1" dirty="0">
                <a:solidFill>
                  <a:srgbClr val="5C6B73"/>
                </a:solidFill>
              </a:rPr>
              <a:t>The gate is a demo, not security: the password is checked in the browser, and the API accepts the same requests either way. Real separation would need accounts, sessions and server-side role checks - none of which the rubric scores.</a:t>
            </a:r>
            <a:endParaRPr lang="en-US" sz="11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Docker and the pipeline</a:t>
            </a:r>
            <a:endParaRPr lang="en-US" sz="3400" dirty="0"/>
          </a:p>
        </p:txBody>
      </p:sp>
      <p:sp>
        <p:nvSpPr>
          <p:cNvPr id="3" name="Text 1"/>
          <p:cNvSpPr txBox="1"/>
          <p:nvPr/>
        </p:nvSpPr>
        <p:spPr>
          <a:xfrm>
            <a:off x="640080" y="1325880"/>
            <a:ext cx="5486400" cy="274320"/>
          </a:xfrm>
          <a:prstGeom prst="rect">
            <a:avLst/>
          </a:prstGeom>
          <a:noFill/>
          <a:ln/>
        </p:spPr>
        <p:txBody>
          <a:bodyPr wrap="square" lIns="0" tIns="0" rIns="0" bIns="0" rtlCol="0" anchor="ctr"/>
          <a:lstStyle/>
          <a:p>
            <a:pPr indent="0" marL="0">
              <a:buNone/>
            </a:pPr>
            <a:r>
              <a:rPr lang="en-US" sz="1400" b="1" dirty="0">
                <a:solidFill>
                  <a:srgbClr val="028090"/>
                </a:solidFill>
              </a:rPr>
              <a:t>Three CI jobs, in this order</a:t>
            </a:r>
            <a:endParaRPr lang="en-US" sz="1400" dirty="0"/>
          </a:p>
        </p:txBody>
      </p:sp>
      <p:sp>
        <p:nvSpPr>
          <p:cNvPr id="4" name="Shape 2"/>
          <p:cNvSpPr/>
          <p:nvPr/>
        </p:nvSpPr>
        <p:spPr>
          <a:xfrm>
            <a:off x="640080" y="1783080"/>
            <a:ext cx="475488" cy="475488"/>
          </a:xfrm>
          <a:prstGeom prst="ellipse">
            <a:avLst/>
          </a:prstGeom>
          <a:solidFill>
            <a:srgbClr val="02C39A"/>
          </a:solidFill>
          <a:ln w="12700">
            <a:solidFill>
              <a:srgbClr val="02C39A"/>
            </a:solidFill>
            <a:prstDash val="solid"/>
          </a:ln>
        </p:spPr>
      </p:sp>
      <p:sp>
        <p:nvSpPr>
          <p:cNvPr id="5" name="Text 3"/>
          <p:cNvSpPr txBox="1"/>
          <p:nvPr/>
        </p:nvSpPr>
        <p:spPr>
          <a:xfrm>
            <a:off x="640080" y="1783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783080"/>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test</a:t>
            </a:r>
            <a:endParaRPr lang="en-US" sz="1500" dirty="0"/>
          </a:p>
        </p:txBody>
      </p:sp>
      <p:sp>
        <p:nvSpPr>
          <p:cNvPr id="7" name="Text 5"/>
          <p:cNvSpPr txBox="1"/>
          <p:nvPr/>
        </p:nvSpPr>
        <p:spPr>
          <a:xfrm>
            <a:off x="1280160" y="2084832"/>
            <a:ext cx="4754880" cy="320040"/>
          </a:xfrm>
          <a:prstGeom prst="rect">
            <a:avLst/>
          </a:prstGeom>
          <a:noFill/>
          <a:ln/>
        </p:spPr>
        <p:txBody>
          <a:bodyPr wrap="square" lIns="0" tIns="0" rIns="0" bIns="0" rtlCol="0" anchor="ctr"/>
          <a:lstStyle/>
          <a:p>
            <a:pPr indent="0" marL="0">
              <a:buNone/>
            </a:pPr>
            <a:r>
              <a:rPr lang="en-US" sz="1200" dirty="0">
                <a:solidFill>
                  <a:srgbClr val="5C6B73"/>
                </a:solidFill>
              </a:rPr>
              <a:t>pytest, then the frontend build</a:t>
            </a:r>
            <a:endParaRPr lang="en-US" sz="1200" dirty="0"/>
          </a:p>
        </p:txBody>
      </p:sp>
      <p:sp>
        <p:nvSpPr>
          <p:cNvPr id="8" name="Shape 6"/>
          <p:cNvSpPr/>
          <p:nvPr/>
        </p:nvSpPr>
        <p:spPr>
          <a:xfrm>
            <a:off x="640080" y="2697480"/>
            <a:ext cx="475488" cy="475488"/>
          </a:xfrm>
          <a:prstGeom prst="ellipse">
            <a:avLst/>
          </a:prstGeom>
          <a:solidFill>
            <a:srgbClr val="00A896"/>
          </a:solidFill>
          <a:ln w="12700">
            <a:solidFill>
              <a:srgbClr val="00A896"/>
            </a:solidFill>
            <a:prstDash val="solid"/>
          </a:ln>
        </p:spPr>
      </p:sp>
      <p:sp>
        <p:nvSpPr>
          <p:cNvPr id="9" name="Text 7"/>
          <p:cNvSpPr txBox="1"/>
          <p:nvPr/>
        </p:nvSpPr>
        <p:spPr>
          <a:xfrm>
            <a:off x="640080" y="26974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8"/>
          <p:cNvSpPr txBox="1"/>
          <p:nvPr/>
        </p:nvSpPr>
        <p:spPr>
          <a:xfrm>
            <a:off x="1280160" y="2697480"/>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build-scan-push</a:t>
            </a:r>
            <a:endParaRPr lang="en-US" sz="1500" dirty="0"/>
          </a:p>
        </p:txBody>
      </p:sp>
      <p:sp>
        <p:nvSpPr>
          <p:cNvPr id="11" name="Text 9"/>
          <p:cNvSpPr txBox="1"/>
          <p:nvPr/>
        </p:nvSpPr>
        <p:spPr>
          <a:xfrm>
            <a:off x="1280160" y="2999232"/>
            <a:ext cx="4754880" cy="320040"/>
          </a:xfrm>
          <a:prstGeom prst="rect">
            <a:avLst/>
          </a:prstGeom>
          <a:noFill/>
          <a:ln/>
        </p:spPr>
        <p:txBody>
          <a:bodyPr wrap="square" lIns="0" tIns="0" rIns="0" bIns="0" rtlCol="0" anchor="ctr"/>
          <a:lstStyle/>
          <a:p>
            <a:pPr indent="0" marL="0">
              <a:buNone/>
            </a:pPr>
            <a:r>
              <a:rPr lang="en-US" sz="1200" dirty="0">
                <a:solidFill>
                  <a:srgbClr val="5C6B73"/>
                </a:solidFill>
              </a:rPr>
              <a:t>build, load locally, Trivy, then push</a:t>
            </a:r>
            <a:endParaRPr lang="en-US" sz="1200" dirty="0"/>
          </a:p>
        </p:txBody>
      </p:sp>
      <p:sp>
        <p:nvSpPr>
          <p:cNvPr id="12" name="Shape 10"/>
          <p:cNvSpPr/>
          <p:nvPr/>
        </p:nvSpPr>
        <p:spPr>
          <a:xfrm>
            <a:off x="640080" y="3611880"/>
            <a:ext cx="475488" cy="475488"/>
          </a:xfrm>
          <a:prstGeom prst="ellipse">
            <a:avLst/>
          </a:prstGeom>
          <a:solidFill>
            <a:srgbClr val="028090"/>
          </a:solidFill>
          <a:ln w="12700">
            <a:solidFill>
              <a:srgbClr val="028090"/>
            </a:solidFill>
            <a:prstDash val="solid"/>
          </a:ln>
        </p:spPr>
      </p:sp>
      <p:sp>
        <p:nvSpPr>
          <p:cNvPr id="13" name="Text 11"/>
          <p:cNvSpPr txBox="1"/>
          <p:nvPr/>
        </p:nvSpPr>
        <p:spPr>
          <a:xfrm>
            <a:off x="640080" y="36118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2"/>
          <p:cNvSpPr txBox="1"/>
          <p:nvPr/>
        </p:nvSpPr>
        <p:spPr>
          <a:xfrm>
            <a:off x="1280160" y="3611880"/>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deploy</a:t>
            </a:r>
            <a:endParaRPr lang="en-US" sz="1500" dirty="0"/>
          </a:p>
        </p:txBody>
      </p:sp>
      <p:sp>
        <p:nvSpPr>
          <p:cNvPr id="15" name="Text 13"/>
          <p:cNvSpPr txBox="1"/>
          <p:nvPr/>
        </p:nvSpPr>
        <p:spPr>
          <a:xfrm>
            <a:off x="1280160" y="3913632"/>
            <a:ext cx="4754880" cy="320040"/>
          </a:xfrm>
          <a:prstGeom prst="rect">
            <a:avLst/>
          </a:prstGeom>
          <a:noFill/>
          <a:ln/>
        </p:spPr>
        <p:txBody>
          <a:bodyPr wrap="square" lIns="0" tIns="0" rIns="0" bIns="0" rtlCol="0" anchor="ctr"/>
          <a:lstStyle/>
          <a:p>
            <a:pPr indent="0" marL="0">
              <a:buNone/>
            </a:pPr>
            <a:r>
              <a:rPr lang="en-US" sz="1200" dirty="0">
                <a:solidFill>
                  <a:srgbClr val="5C6B73"/>
                </a:solidFill>
              </a:rPr>
              <a:t>helm upgrade --install</a:t>
            </a:r>
            <a:endParaRPr lang="en-US" sz="1200" dirty="0"/>
          </a:p>
        </p:txBody>
      </p:sp>
      <p:sp>
        <p:nvSpPr>
          <p:cNvPr id="16" name="Text 14"/>
          <p:cNvSpPr txBox="1"/>
          <p:nvPr/>
        </p:nvSpPr>
        <p:spPr>
          <a:xfrm>
            <a:off x="640080" y="4663440"/>
            <a:ext cx="5394960" cy="640080"/>
          </a:xfrm>
          <a:prstGeom prst="rect">
            <a:avLst/>
          </a:prstGeom>
          <a:noFill/>
          <a:ln/>
        </p:spPr>
        <p:txBody>
          <a:bodyPr wrap="square" lIns="0" tIns="0" rIns="0" bIns="0" rtlCol="0" anchor="ctr"/>
          <a:lstStyle/>
          <a:p>
            <a:pPr indent="0" marL="0">
              <a:buNone/>
            </a:pPr>
            <a:r>
              <a:rPr lang="en-US" sz="1200" i="1" dirty="0">
                <a:solidFill>
                  <a:srgbClr val="5C6B73"/>
                </a:solidFill>
              </a:rPr>
              <a:t>Scanning happens before the push, so a vulnerable image never reaches the registry. Images are tagged with the commit SHA, never latest.</a:t>
            </a:r>
            <a:endParaRPr lang="en-US" sz="1200" dirty="0"/>
          </a:p>
        </p:txBody>
      </p:sp>
      <p:sp>
        <p:nvSpPr>
          <p:cNvPr id="17" name="trivy"/>
          <p:cNvSpPr/>
          <p:nvPr/>
        </p:nvSpPr>
        <p:spPr>
          <a:xfrm>
            <a:off x="6309360" y="1280160"/>
            <a:ext cx="5212080" cy="4023360"/>
          </a:xfrm>
          <a:prstGeom prst="roundRect">
            <a:avLst>
              <a:gd name="adj" fmla="val 1818"/>
            </a:avLst>
          </a:prstGeom>
          <a:solidFill>
            <a:srgbClr val="0F2027"/>
          </a:solidFill>
          <a:ln w="12700">
            <a:solidFill>
              <a:srgbClr val="0F2027"/>
            </a:solidFill>
            <a:prstDash val="solid"/>
          </a:ln>
        </p:spPr>
      </p:sp>
      <p:sp>
        <p:nvSpPr>
          <p:cNvPr id="18" name="Text 16"/>
          <p:cNvSpPr txBox="1"/>
          <p:nvPr/>
        </p:nvSpPr>
        <p:spPr>
          <a:xfrm>
            <a:off x="6583680" y="1508760"/>
            <a:ext cx="4663440" cy="320040"/>
          </a:xfrm>
          <a:prstGeom prst="rect">
            <a:avLst/>
          </a:prstGeom>
          <a:noFill/>
          <a:ln/>
        </p:spPr>
        <p:txBody>
          <a:bodyPr wrap="square" lIns="0" tIns="0" rIns="0" bIns="0" rtlCol="0" anchor="ctr"/>
          <a:lstStyle/>
          <a:p>
            <a:pPr indent="0" marL="0">
              <a:buNone/>
            </a:pPr>
            <a:r>
              <a:rPr lang="en-US" sz="1400" b="1" dirty="0">
                <a:solidFill>
                  <a:srgbClr val="02C39A"/>
                </a:solidFill>
              </a:rPr>
              <a:t>Trivy gate: HIGH / CRITICAL fails the build</a:t>
            </a:r>
            <a:endParaRPr lang="en-US" sz="1400" dirty="0"/>
          </a:p>
        </p:txBody>
      </p:sp>
      <p:sp>
        <p:nvSpPr>
          <p:cNvPr id="19" name="Text 17"/>
          <p:cNvSpPr txBox="1"/>
          <p:nvPr/>
        </p:nvSpPr>
        <p:spPr>
          <a:xfrm>
            <a:off x="6583680" y="2103120"/>
            <a:ext cx="1828800" cy="274320"/>
          </a:xfrm>
          <a:prstGeom prst="rect">
            <a:avLst/>
          </a:prstGeom>
          <a:noFill/>
          <a:ln/>
        </p:spPr>
        <p:txBody>
          <a:bodyPr wrap="square" lIns="0" tIns="0" rIns="0" bIns="0" rtlCol="0" anchor="ctr"/>
          <a:lstStyle/>
          <a:p>
            <a:pPr indent="0" marL="0">
              <a:buNone/>
            </a:pPr>
            <a:r>
              <a:rPr lang="en-US" sz="1300" b="1" dirty="0">
                <a:solidFill>
                  <a:srgbClr val="FFFFFF"/>
                </a:solidFill>
              </a:rPr>
              <a:t>backend</a:t>
            </a:r>
            <a:endParaRPr lang="en-US" sz="1300" dirty="0"/>
          </a:p>
        </p:txBody>
      </p:sp>
      <p:sp>
        <p:nvSpPr>
          <p:cNvPr id="20" name="Text 18"/>
          <p:cNvSpPr txBox="1"/>
          <p:nvPr/>
        </p:nvSpPr>
        <p:spPr>
          <a:xfrm>
            <a:off x="6583680" y="2395728"/>
            <a:ext cx="1280160" cy="640080"/>
          </a:xfrm>
          <a:prstGeom prst="rect">
            <a:avLst/>
          </a:prstGeom>
          <a:noFill/>
          <a:ln/>
        </p:spPr>
        <p:txBody>
          <a:bodyPr wrap="square" lIns="0" tIns="0" rIns="0" bIns="0" rtlCol="0" anchor="ctr"/>
          <a:lstStyle/>
          <a:p>
            <a:pPr indent="0" marL="0">
              <a:buNone/>
            </a:pPr>
            <a:r>
              <a:rPr lang="en-US" sz="3600" b="1" dirty="0">
                <a:solidFill>
                  <a:srgbClr val="E05263"/>
                </a:solidFill>
              </a:rPr>
              <a:t>5</a:t>
            </a:r>
            <a:endParaRPr lang="en-US" sz="3600" dirty="0"/>
          </a:p>
        </p:txBody>
      </p:sp>
      <p:sp>
        <p:nvSpPr>
          <p:cNvPr id="21" name="Text 19"/>
          <p:cNvSpPr txBox="1"/>
          <p:nvPr/>
        </p:nvSpPr>
        <p:spPr>
          <a:xfrm>
            <a:off x="7863840" y="2514600"/>
            <a:ext cx="548640" cy="365760"/>
          </a:xfrm>
          <a:prstGeom prst="rect">
            <a:avLst/>
          </a:prstGeom>
          <a:noFill/>
          <a:ln/>
        </p:spPr>
        <p:txBody>
          <a:bodyPr wrap="square" lIns="0" tIns="0" rIns="0" bIns="0" rtlCol="0" anchor="ctr"/>
          <a:lstStyle/>
          <a:p>
            <a:pPr algn="ctr" indent="0" marL="0">
              <a:buNone/>
            </a:pPr>
            <a:r>
              <a:rPr lang="en-US" sz="1800" b="1" dirty="0">
                <a:solidFill>
                  <a:srgbClr val="5C6B73"/>
                </a:solidFill>
              </a:rPr>
              <a:t>-&gt;</a:t>
            </a:r>
            <a:endParaRPr lang="en-US" sz="1800" dirty="0"/>
          </a:p>
        </p:txBody>
      </p:sp>
      <p:sp>
        <p:nvSpPr>
          <p:cNvPr id="22" name="Text 20"/>
          <p:cNvSpPr txBox="1"/>
          <p:nvPr/>
        </p:nvSpPr>
        <p:spPr>
          <a:xfrm>
            <a:off x="8458200" y="2395728"/>
            <a:ext cx="1280160" cy="640080"/>
          </a:xfrm>
          <a:prstGeom prst="rect">
            <a:avLst/>
          </a:prstGeom>
          <a:noFill/>
          <a:ln/>
        </p:spPr>
        <p:txBody>
          <a:bodyPr wrap="square" lIns="0" tIns="0" rIns="0" bIns="0" rtlCol="0" anchor="ctr"/>
          <a:lstStyle/>
          <a:p>
            <a:pPr indent="0" marL="0">
              <a:buNone/>
            </a:pPr>
            <a:r>
              <a:rPr lang="en-US" sz="3600" b="1" dirty="0">
                <a:solidFill>
                  <a:srgbClr val="02C39A"/>
                </a:solidFill>
              </a:rPr>
              <a:t>0</a:t>
            </a:r>
            <a:endParaRPr lang="en-US" sz="3600" dirty="0"/>
          </a:p>
        </p:txBody>
      </p:sp>
      <p:sp>
        <p:nvSpPr>
          <p:cNvPr id="23" name="Text 21"/>
          <p:cNvSpPr txBox="1"/>
          <p:nvPr/>
        </p:nvSpPr>
        <p:spPr>
          <a:xfrm>
            <a:off x="9509760" y="2560320"/>
            <a:ext cx="1828800" cy="274320"/>
          </a:xfrm>
          <a:prstGeom prst="rect">
            <a:avLst/>
          </a:prstGeom>
          <a:noFill/>
          <a:ln/>
        </p:spPr>
        <p:txBody>
          <a:bodyPr wrap="square" lIns="0" tIns="0" rIns="0" bIns="0" rtlCol="0" anchor="ctr"/>
          <a:lstStyle/>
          <a:p>
            <a:pPr indent="0" marL="0">
              <a:buNone/>
            </a:pPr>
            <a:r>
              <a:rPr lang="en-US" sz="1000" dirty="0">
                <a:solidFill>
                  <a:srgbClr val="5C6B73"/>
                </a:solidFill>
              </a:rPr>
              <a:t>HIGH/CRITICAL</a:t>
            </a:r>
            <a:endParaRPr lang="en-US" sz="1000" dirty="0"/>
          </a:p>
        </p:txBody>
      </p:sp>
      <p:sp>
        <p:nvSpPr>
          <p:cNvPr id="24" name="Text 22"/>
          <p:cNvSpPr txBox="1"/>
          <p:nvPr/>
        </p:nvSpPr>
        <p:spPr>
          <a:xfrm>
            <a:off x="6583680" y="3474720"/>
            <a:ext cx="1828800" cy="274320"/>
          </a:xfrm>
          <a:prstGeom prst="rect">
            <a:avLst/>
          </a:prstGeom>
          <a:noFill/>
          <a:ln/>
        </p:spPr>
        <p:txBody>
          <a:bodyPr wrap="square" lIns="0" tIns="0" rIns="0" bIns="0" rtlCol="0" anchor="ctr"/>
          <a:lstStyle/>
          <a:p>
            <a:pPr indent="0" marL="0">
              <a:buNone/>
            </a:pPr>
            <a:r>
              <a:rPr lang="en-US" sz="1300" b="1" dirty="0">
                <a:solidFill>
                  <a:srgbClr val="FFFFFF"/>
                </a:solidFill>
              </a:rPr>
              <a:t>frontend</a:t>
            </a:r>
            <a:endParaRPr lang="en-US" sz="1300" dirty="0"/>
          </a:p>
        </p:txBody>
      </p:sp>
      <p:sp>
        <p:nvSpPr>
          <p:cNvPr id="25" name="Text 23"/>
          <p:cNvSpPr txBox="1"/>
          <p:nvPr/>
        </p:nvSpPr>
        <p:spPr>
          <a:xfrm>
            <a:off x="6583680" y="3767328"/>
            <a:ext cx="1280160" cy="640080"/>
          </a:xfrm>
          <a:prstGeom prst="rect">
            <a:avLst/>
          </a:prstGeom>
          <a:noFill/>
          <a:ln/>
        </p:spPr>
        <p:txBody>
          <a:bodyPr wrap="square" lIns="0" tIns="0" rIns="0" bIns="0" rtlCol="0" anchor="ctr"/>
          <a:lstStyle/>
          <a:p>
            <a:pPr indent="0" marL="0">
              <a:buNone/>
            </a:pPr>
            <a:r>
              <a:rPr lang="en-US" sz="3600" b="1" dirty="0">
                <a:solidFill>
                  <a:srgbClr val="E05263"/>
                </a:solidFill>
              </a:rPr>
              <a:t>17</a:t>
            </a:r>
            <a:endParaRPr lang="en-US" sz="3600" dirty="0"/>
          </a:p>
        </p:txBody>
      </p:sp>
      <p:sp>
        <p:nvSpPr>
          <p:cNvPr id="26" name="Text 24"/>
          <p:cNvSpPr txBox="1"/>
          <p:nvPr/>
        </p:nvSpPr>
        <p:spPr>
          <a:xfrm>
            <a:off x="7863840" y="3886200"/>
            <a:ext cx="548640" cy="365760"/>
          </a:xfrm>
          <a:prstGeom prst="rect">
            <a:avLst/>
          </a:prstGeom>
          <a:noFill/>
          <a:ln/>
        </p:spPr>
        <p:txBody>
          <a:bodyPr wrap="square" lIns="0" tIns="0" rIns="0" bIns="0" rtlCol="0" anchor="ctr"/>
          <a:lstStyle/>
          <a:p>
            <a:pPr algn="ctr" indent="0" marL="0">
              <a:buNone/>
            </a:pPr>
            <a:r>
              <a:rPr lang="en-US" sz="1800" b="1" dirty="0">
                <a:solidFill>
                  <a:srgbClr val="5C6B73"/>
                </a:solidFill>
              </a:rPr>
              <a:t>-&gt;</a:t>
            </a:r>
            <a:endParaRPr lang="en-US" sz="1800" dirty="0"/>
          </a:p>
        </p:txBody>
      </p:sp>
      <p:sp>
        <p:nvSpPr>
          <p:cNvPr id="27" name="Text 25"/>
          <p:cNvSpPr txBox="1"/>
          <p:nvPr/>
        </p:nvSpPr>
        <p:spPr>
          <a:xfrm>
            <a:off x="8458200" y="3767328"/>
            <a:ext cx="1280160" cy="640080"/>
          </a:xfrm>
          <a:prstGeom prst="rect">
            <a:avLst/>
          </a:prstGeom>
          <a:noFill/>
          <a:ln/>
        </p:spPr>
        <p:txBody>
          <a:bodyPr wrap="square" lIns="0" tIns="0" rIns="0" bIns="0" rtlCol="0" anchor="ctr"/>
          <a:lstStyle/>
          <a:p>
            <a:pPr indent="0" marL="0">
              <a:buNone/>
            </a:pPr>
            <a:r>
              <a:rPr lang="en-US" sz="3600" b="1" dirty="0">
                <a:solidFill>
                  <a:srgbClr val="02C39A"/>
                </a:solidFill>
              </a:rPr>
              <a:t>0</a:t>
            </a:r>
            <a:endParaRPr lang="en-US" sz="3600" dirty="0"/>
          </a:p>
        </p:txBody>
      </p:sp>
      <p:sp>
        <p:nvSpPr>
          <p:cNvPr id="28" name="Text 26"/>
          <p:cNvSpPr txBox="1"/>
          <p:nvPr/>
        </p:nvSpPr>
        <p:spPr>
          <a:xfrm>
            <a:off x="9509760" y="3931920"/>
            <a:ext cx="1828800" cy="274320"/>
          </a:xfrm>
          <a:prstGeom prst="rect">
            <a:avLst/>
          </a:prstGeom>
          <a:noFill/>
          <a:ln/>
        </p:spPr>
        <p:txBody>
          <a:bodyPr wrap="square" lIns="0" tIns="0" rIns="0" bIns="0" rtlCol="0" anchor="ctr"/>
          <a:lstStyle/>
          <a:p>
            <a:pPr indent="0" marL="0">
              <a:buNone/>
            </a:pPr>
            <a:r>
              <a:rPr lang="en-US" sz="1000" dirty="0">
                <a:solidFill>
                  <a:srgbClr val="5C6B73"/>
                </a:solidFill>
              </a:rPr>
              <a:t>HIGH/CRITICAL</a:t>
            </a:r>
            <a:endParaRPr lang="en-US" sz="1000" dirty="0"/>
          </a:p>
        </p:txBody>
      </p:sp>
      <p:sp>
        <p:nvSpPr>
          <p:cNvPr id="29" name="Text 27"/>
          <p:cNvSpPr txBox="1"/>
          <p:nvPr/>
        </p:nvSpPr>
        <p:spPr>
          <a:xfrm>
            <a:off x="6583680" y="4846320"/>
            <a:ext cx="4663440" cy="365760"/>
          </a:xfrm>
          <a:prstGeom prst="rect">
            <a:avLst/>
          </a:prstGeom>
          <a:noFill/>
          <a:ln/>
        </p:spPr>
        <p:txBody>
          <a:bodyPr wrap="square" lIns="0" tIns="0" rIns="0" bIns="0" rtlCol="0" anchor="ctr"/>
          <a:lstStyle/>
          <a:p>
            <a:pPr indent="0" marL="0">
              <a:buNone/>
            </a:pPr>
            <a:r>
              <a:rPr lang="en-US" sz="1100" i="1" dirty="0">
                <a:solidFill>
                  <a:srgbClr val="5C6B73"/>
                </a:solidFill>
              </a:rPr>
              <a:t>Both images clean. Getting there took real debugging - see the bugs slide.</a:t>
            </a:r>
            <a:endParaRPr lang="en-US" sz="11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097280" y="2743200"/>
            <a:ext cx="10058400" cy="1097280"/>
          </a:xfrm>
          <a:prstGeom prst="rect">
            <a:avLst/>
          </a:prstGeom>
          <a:noFill/>
          <a:ln/>
        </p:spPr>
        <p:txBody>
          <a:bodyPr wrap="square" rtlCol="0"/>
          <a:lstStyle/>
          <a:p>
            <a:pPr indent="0" marL="0">
              <a:buNone/>
            </a:pPr>
            <a:r>
              <a:rPr lang="en-US" sz="4000" b="1" dirty="0">
                <a:solidFill>
                  <a:schemeClr val="bg1"/>
                </a:solidFill>
              </a:rPr>
              <a:t>It actually ran on AWS</a:t>
            </a:r>
            <a:endParaRPr lang="en-US" sz="4000" dirty="0"/>
          </a:p>
        </p:txBody>
      </p:sp>
      <p:sp>
        <p:nvSpPr>
          <p:cNvPr id="3" name="Text 0"/>
          <p:cNvSpPr/>
          <p:nvPr>
            <p:ph idx="101" type="body" hasCustomPrompt="1"/>
          </p:nvPr>
        </p:nvSpPr>
        <p:spPr>
          <a:xfrm>
            <a:off x="1097280" y="3840480"/>
            <a:ext cx="10058400" cy="914400"/>
          </a:xfrm>
          <a:prstGeom prst="rect">
            <a:avLst/>
          </a:prstGeom>
          <a:noFill/>
          <a:ln/>
        </p:spPr>
        <p:txBody>
          <a:bodyPr wrap="square" rtlCol="0"/>
          <a:lstStyle/>
          <a:p>
            <a:pPr indent="0" marL="0">
              <a:buNone/>
            </a:pPr>
            <a:r>
              <a:rPr lang="en-US" sz="1600" dirty="0">
                <a:solidFill>
                  <a:srgbClr val="02C39A"/>
                </a:solidFill>
              </a:rPr>
              <a:t>Not a plan file. A real VPC, a real EKS cluster, a public load balancer, then destroyed.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Terraform: VPC and EKS</a:t>
            </a:r>
            <a:endParaRPr lang="en-US" sz="3400" dirty="0"/>
          </a:p>
        </p:txBody>
      </p:sp>
      <p:sp>
        <p:nvSpPr>
          <p:cNvPr id="3" name="Text 1"/>
          <p:cNvSpPr txBox="1"/>
          <p:nvPr/>
        </p:nvSpPr>
        <p:spPr>
          <a:xfrm>
            <a:off x="640080" y="1325880"/>
            <a:ext cx="2743200" cy="868680"/>
          </a:xfrm>
          <a:prstGeom prst="rect">
            <a:avLst/>
          </a:prstGeom>
          <a:noFill/>
          <a:ln/>
        </p:spPr>
        <p:txBody>
          <a:bodyPr wrap="square" lIns="0" tIns="0" rIns="0" bIns="0" rtlCol="0" anchor="ctr"/>
          <a:lstStyle/>
          <a:p>
            <a:pPr algn="ctr" indent="0" marL="0">
              <a:buNone/>
            </a:pPr>
            <a:r>
              <a:rPr lang="en-US" sz="5400" b="1" dirty="0">
                <a:solidFill>
                  <a:srgbClr val="028090"/>
                </a:solidFill>
              </a:rPr>
              <a:t>15</a:t>
            </a:r>
            <a:endParaRPr lang="en-US" sz="5400" dirty="0"/>
          </a:p>
        </p:txBody>
      </p:sp>
      <p:sp>
        <p:nvSpPr>
          <p:cNvPr id="4" name="Text 2"/>
          <p:cNvSpPr txBox="1"/>
          <p:nvPr/>
        </p:nvSpPr>
        <p:spPr>
          <a:xfrm>
            <a:off x="640080" y="2194560"/>
            <a:ext cx="2743200" cy="411480"/>
          </a:xfrm>
          <a:prstGeom prst="rect">
            <a:avLst/>
          </a:prstGeom>
          <a:noFill/>
          <a:ln/>
        </p:spPr>
        <p:txBody>
          <a:bodyPr wrap="square" lIns="0" tIns="0" rIns="0" bIns="0" rtlCol="0" anchor="ctr"/>
          <a:lstStyle/>
          <a:p>
            <a:pPr algn="ctr" indent="0" marL="0">
              <a:buNone/>
            </a:pPr>
            <a:r>
              <a:rPr lang="en-US" sz="1200" dirty="0">
                <a:solidFill>
                  <a:srgbClr val="5C6B73"/>
                </a:solidFill>
              </a:rPr>
              <a:t>RESOURCES CREATED</a:t>
            </a:r>
            <a:endParaRPr lang="en-US" sz="1200" dirty="0"/>
          </a:p>
        </p:txBody>
      </p:sp>
      <p:sp>
        <p:nvSpPr>
          <p:cNvPr id="5" name="Text 3"/>
          <p:cNvSpPr txBox="1"/>
          <p:nvPr/>
        </p:nvSpPr>
        <p:spPr>
          <a:xfrm>
            <a:off x="3566160" y="1325880"/>
            <a:ext cx="2743200" cy="868680"/>
          </a:xfrm>
          <a:prstGeom prst="rect">
            <a:avLst/>
          </a:prstGeom>
          <a:noFill/>
          <a:ln/>
        </p:spPr>
        <p:txBody>
          <a:bodyPr wrap="square" lIns="0" tIns="0" rIns="0" bIns="0" rtlCol="0" anchor="ctr"/>
          <a:lstStyle/>
          <a:p>
            <a:pPr algn="ctr" indent="0" marL="0">
              <a:buNone/>
            </a:pPr>
            <a:r>
              <a:rPr lang="en-US" sz="5400" b="1" dirty="0">
                <a:solidFill>
                  <a:srgbClr val="00A896"/>
                </a:solidFill>
              </a:rPr>
              <a:t>3</a:t>
            </a:r>
            <a:endParaRPr lang="en-US" sz="5400" dirty="0"/>
          </a:p>
        </p:txBody>
      </p:sp>
      <p:sp>
        <p:nvSpPr>
          <p:cNvPr id="6" name="Text 4"/>
          <p:cNvSpPr txBox="1"/>
          <p:nvPr/>
        </p:nvSpPr>
        <p:spPr>
          <a:xfrm>
            <a:off x="3566160" y="2194560"/>
            <a:ext cx="2743200" cy="411480"/>
          </a:xfrm>
          <a:prstGeom prst="rect">
            <a:avLst/>
          </a:prstGeom>
          <a:noFill/>
          <a:ln/>
        </p:spPr>
        <p:txBody>
          <a:bodyPr wrap="square" lIns="0" tIns="0" rIns="0" bIns="0" rtlCol="0" anchor="ctr"/>
          <a:lstStyle/>
          <a:p>
            <a:pPr algn="ctr" indent="0" marL="0">
              <a:buNone/>
            </a:pPr>
            <a:r>
              <a:rPr lang="en-US" sz="1200" dirty="0">
                <a:solidFill>
                  <a:srgbClr val="5C6B73"/>
                </a:solidFill>
              </a:rPr>
              <a:t>WORKER NODES</a:t>
            </a:r>
            <a:endParaRPr lang="en-US" sz="1200" dirty="0"/>
          </a:p>
        </p:txBody>
      </p:sp>
      <p:sp>
        <p:nvSpPr>
          <p:cNvPr id="7" name="Text 5"/>
          <p:cNvSpPr txBox="1"/>
          <p:nvPr/>
        </p:nvSpPr>
        <p:spPr>
          <a:xfrm>
            <a:off x="6492240" y="1325880"/>
            <a:ext cx="2743200" cy="868680"/>
          </a:xfrm>
          <a:prstGeom prst="rect">
            <a:avLst/>
          </a:prstGeom>
          <a:noFill/>
          <a:ln/>
        </p:spPr>
        <p:txBody>
          <a:bodyPr wrap="square" lIns="0" tIns="0" rIns="0" bIns="0" rtlCol="0" anchor="ctr"/>
          <a:lstStyle/>
          <a:p>
            <a:pPr algn="ctr" indent="0" marL="0">
              <a:buNone/>
            </a:pPr>
            <a:r>
              <a:rPr lang="en-US" sz="5400" b="1" dirty="0">
                <a:solidFill>
                  <a:srgbClr val="02C39A"/>
                </a:solidFill>
              </a:rPr>
              <a:t>2</a:t>
            </a:r>
            <a:endParaRPr lang="en-US" sz="5400" dirty="0"/>
          </a:p>
        </p:txBody>
      </p:sp>
      <p:sp>
        <p:nvSpPr>
          <p:cNvPr id="8" name="Text 6"/>
          <p:cNvSpPr txBox="1"/>
          <p:nvPr/>
        </p:nvSpPr>
        <p:spPr>
          <a:xfrm>
            <a:off x="6492240" y="2194560"/>
            <a:ext cx="2743200" cy="411480"/>
          </a:xfrm>
          <a:prstGeom prst="rect">
            <a:avLst/>
          </a:prstGeom>
          <a:noFill/>
          <a:ln/>
        </p:spPr>
        <p:txBody>
          <a:bodyPr wrap="square" lIns="0" tIns="0" rIns="0" bIns="0" rtlCol="0" anchor="ctr"/>
          <a:lstStyle/>
          <a:p>
            <a:pPr algn="ctr" indent="0" marL="0">
              <a:buNone/>
            </a:pPr>
            <a:r>
              <a:rPr lang="en-US" sz="1200" dirty="0">
                <a:solidFill>
                  <a:srgbClr val="5C6B73"/>
                </a:solidFill>
              </a:rPr>
              <a:t>AVAILABILITY ZONES</a:t>
            </a:r>
            <a:endParaRPr lang="en-US" sz="1200" dirty="0"/>
          </a:p>
        </p:txBody>
      </p:sp>
      <p:sp>
        <p:nvSpPr>
          <p:cNvPr id="9" name="Text 7"/>
          <p:cNvSpPr txBox="1"/>
          <p:nvPr/>
        </p:nvSpPr>
        <p:spPr>
          <a:xfrm>
            <a:off x="9418320" y="1325880"/>
            <a:ext cx="2103120" cy="868680"/>
          </a:xfrm>
          <a:prstGeom prst="rect">
            <a:avLst/>
          </a:prstGeom>
          <a:noFill/>
          <a:ln/>
        </p:spPr>
        <p:txBody>
          <a:bodyPr wrap="square" lIns="0" tIns="0" rIns="0" bIns="0" rtlCol="0" anchor="ctr"/>
          <a:lstStyle/>
          <a:p>
            <a:pPr algn="ctr" indent="0" marL="0">
              <a:buNone/>
            </a:pPr>
            <a:r>
              <a:rPr lang="en-US" sz="5400" b="1" dirty="0">
                <a:solidFill>
                  <a:srgbClr val="F0A202"/>
                </a:solidFill>
              </a:rPr>
              <a:t>15</a:t>
            </a:r>
            <a:endParaRPr lang="en-US" sz="5400" dirty="0"/>
          </a:p>
        </p:txBody>
      </p:sp>
      <p:sp>
        <p:nvSpPr>
          <p:cNvPr id="10" name="Text 8"/>
          <p:cNvSpPr txBox="1"/>
          <p:nvPr/>
        </p:nvSpPr>
        <p:spPr>
          <a:xfrm>
            <a:off x="9418320" y="2194560"/>
            <a:ext cx="2103120" cy="411480"/>
          </a:xfrm>
          <a:prstGeom prst="rect">
            <a:avLst/>
          </a:prstGeom>
          <a:noFill/>
          <a:ln/>
        </p:spPr>
        <p:txBody>
          <a:bodyPr wrap="square" lIns="0" tIns="0" rIns="0" bIns="0" rtlCol="0" anchor="ctr"/>
          <a:lstStyle/>
          <a:p>
            <a:pPr algn="ctr" indent="0" marL="0">
              <a:buNone/>
            </a:pPr>
            <a:r>
              <a:rPr lang="en-US" sz="1200" dirty="0">
                <a:solidFill>
                  <a:srgbClr val="5C6B73"/>
                </a:solidFill>
              </a:rPr>
              <a:t>DESTROYED AFTER</a:t>
            </a:r>
            <a:endParaRPr lang="en-US" sz="1200" dirty="0"/>
          </a:p>
        </p:txBody>
      </p:sp>
      <p:sp>
        <p:nvSpPr>
          <p:cNvPr id="11" name="tfout"/>
          <p:cNvSpPr/>
          <p:nvPr/>
        </p:nvSpPr>
        <p:spPr>
          <a:xfrm>
            <a:off x="640080" y="2971800"/>
            <a:ext cx="10881360" cy="2286000"/>
          </a:xfrm>
          <a:prstGeom prst="roundRect">
            <a:avLst>
              <a:gd name="adj" fmla="val 3200"/>
            </a:avLst>
          </a:prstGeom>
          <a:solidFill>
            <a:srgbClr val="0F2027"/>
          </a:solidFill>
          <a:ln w="12700">
            <a:solidFill>
              <a:srgbClr val="0F2027"/>
            </a:solidFill>
            <a:prstDash val="solid"/>
          </a:ln>
        </p:spPr>
      </p:sp>
      <p:sp>
        <p:nvSpPr>
          <p:cNvPr id="12" name="Text 10"/>
          <p:cNvSpPr txBox="1"/>
          <p:nvPr/>
        </p:nvSpPr>
        <p:spPr>
          <a:xfrm>
            <a:off x="960120" y="3154680"/>
            <a:ext cx="5486400"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terraform apply</a:t>
            </a:r>
            <a:endParaRPr lang="en-US" sz="1200" dirty="0"/>
          </a:p>
        </p:txBody>
      </p:sp>
      <p:sp>
        <p:nvSpPr>
          <p:cNvPr id="13" name="Text 11"/>
          <p:cNvSpPr txBox="1"/>
          <p:nvPr/>
        </p:nvSpPr>
        <p:spPr>
          <a:xfrm>
            <a:off x="960120" y="3474720"/>
            <a:ext cx="10424160" cy="1645920"/>
          </a:xfrm>
          <a:prstGeom prst="rect">
            <a:avLst/>
          </a:prstGeom>
          <a:noFill/>
          <a:ln/>
        </p:spPr>
        <p:txBody>
          <a:bodyPr wrap="square" lIns="0" tIns="0" rIns="0" bIns="0" rtlCol="0" anchor="ctr"/>
          <a:lstStyle/>
          <a:p>
            <a:pPr indent="0" marL="0">
              <a:lnSpc>
                <a:spcPts val="1500"/>
              </a:lnSpc>
              <a:buNone/>
            </a:pPr>
            <a:r>
              <a:rPr lang="en-US" sz="1100" dirty="0">
                <a:solidFill>
                  <a:srgbClr val="FFFFFF"/>
                </a:solidFill>
                <a:latin typeface="Courier New" pitchFamily="34" charset="0"/>
                <a:ea typeface="Courier New" pitchFamily="34" charset="-122"/>
                <a:cs typeface="Courier New" pitchFamily="34" charset="-120"/>
              </a:rPr>
              <a:t>Apply complete! Resources: 15 added, 0 changed, 0 destroyed.</a:t>
            </a:r>
            <a:endParaRPr lang="en-US" sz="1100" dirty="0"/>
          </a:p>
          <a:p>
            <a:pPr indent="0" marL="0">
              <a:lnSpc>
                <a:spcPts val="1500"/>
              </a:lnSpc>
              <a:buNone/>
            </a:pPr>
            <a:endParaRPr lang="en-US" sz="1100" dirty="0"/>
          </a:p>
          <a:p>
            <a:pPr indent="0" marL="0">
              <a:lnSpc>
                <a:spcPts val="1500"/>
              </a:lnSpc>
              <a:buNone/>
            </a:pPr>
            <a:r>
              <a:rPr lang="en-US" sz="1100" dirty="0">
                <a:solidFill>
                  <a:srgbClr val="C9D6D8"/>
                </a:solidFill>
                <a:latin typeface="Courier New" pitchFamily="34" charset="0"/>
                <a:ea typeface="Courier New" pitchFamily="34" charset="-122"/>
                <a:cs typeface="Courier New" pitchFamily="34" charset="-120"/>
              </a:rPr>
              <a:t>cluster_name      = "campusdesk-eks"</a:t>
            </a:r>
            <a:endParaRPr lang="en-US" sz="1100" dirty="0"/>
          </a:p>
          <a:p>
            <a:pPr indent="0" marL="0">
              <a:lnSpc>
                <a:spcPts val="1500"/>
              </a:lnSpc>
              <a:buNone/>
            </a:pPr>
            <a:r>
              <a:rPr lang="en-US" sz="1100" dirty="0">
                <a:solidFill>
                  <a:srgbClr val="C9D6D8"/>
                </a:solidFill>
                <a:latin typeface="Courier New" pitchFamily="34" charset="0"/>
                <a:ea typeface="Courier New" pitchFamily="34" charset="-122"/>
                <a:cs typeface="Courier New" pitchFamily="34" charset="-120"/>
              </a:rPr>
              <a:t>cluster_endpoint  = "https://1223FE2F....eu-north-1.eks.amazonaws.com"</a:t>
            </a:r>
            <a:endParaRPr lang="en-US" sz="1100" dirty="0"/>
          </a:p>
          <a:p>
            <a:pPr indent="0" marL="0">
              <a:lnSpc>
                <a:spcPts val="1500"/>
              </a:lnSpc>
              <a:buNone/>
            </a:pPr>
            <a:r>
              <a:rPr lang="en-US" sz="1100" dirty="0">
                <a:solidFill>
                  <a:srgbClr val="C9D6D8"/>
                </a:solidFill>
                <a:latin typeface="Courier New" pitchFamily="34" charset="0"/>
                <a:ea typeface="Courier New" pitchFamily="34" charset="-122"/>
                <a:cs typeface="Courier New" pitchFamily="34" charset="-120"/>
              </a:rPr>
              <a:t>vpc_id            = "vpc-062c859f80be09940"</a:t>
            </a:r>
            <a:endParaRPr lang="en-US" sz="1100" dirty="0"/>
          </a:p>
          <a:p>
            <a:pPr indent="0" marL="0">
              <a:lnSpc>
                <a:spcPts val="1500"/>
              </a:lnSpc>
              <a:buNone/>
            </a:pPr>
            <a:r>
              <a:rPr lang="en-US" sz="1100" dirty="0">
                <a:solidFill>
                  <a:srgbClr val="C9D6D8"/>
                </a:solidFill>
                <a:latin typeface="Courier New" pitchFamily="34" charset="0"/>
                <a:ea typeface="Courier New" pitchFamily="34" charset="-122"/>
                <a:cs typeface="Courier New" pitchFamily="34" charset="-120"/>
              </a:rPr>
              <a:t>public_subnet_ids = ["subnet-0bc508ac...", "subnet-06c00fe0..."]</a:t>
            </a:r>
            <a:endParaRPr lang="en-US" sz="1100" dirty="0"/>
          </a:p>
          <a:p>
            <a:pPr indent="0" marL="0">
              <a:lnSpc>
                <a:spcPts val="1500"/>
              </a:lnSpc>
              <a:buNone/>
            </a:pPr>
            <a:endParaRPr lang="en-US" sz="1100" dirty="0"/>
          </a:p>
          <a:p>
            <a:pPr indent="0" marL="0">
              <a:lnSpc>
                <a:spcPts val="1500"/>
              </a:lnSpc>
              <a:buNone/>
            </a:pPr>
            <a:r>
              <a:rPr lang="en-US" sz="1100" dirty="0">
                <a:solidFill>
                  <a:srgbClr val="F0A202"/>
                </a:solidFill>
                <a:latin typeface="Courier New" pitchFamily="34" charset="0"/>
                <a:ea typeface="Courier New" pitchFamily="34" charset="-122"/>
                <a:cs typeface="Courier New" pitchFamily="34" charset="-120"/>
              </a:rPr>
              <a:t>Destroy complete! Resources: 15 destroyed.</a:t>
            </a:r>
            <a:endParaRPr lang="en-US" sz="1100" dirty="0"/>
          </a:p>
        </p:txBody>
      </p:sp>
      <p:sp>
        <p:nvSpPr>
          <p:cNvPr id="14" name="Text 12"/>
          <p:cNvSpPr txBox="1"/>
          <p:nvPr/>
        </p:nvSpPr>
        <p:spPr>
          <a:xfrm>
            <a:off x="640080" y="5440680"/>
            <a:ext cx="10881360" cy="365760"/>
          </a:xfrm>
          <a:prstGeom prst="rect">
            <a:avLst/>
          </a:prstGeom>
          <a:noFill/>
          <a:ln/>
        </p:spPr>
        <p:txBody>
          <a:bodyPr wrap="square" lIns="0" tIns="0" rIns="0" bIns="0" rtlCol="0" anchor="ctr"/>
          <a:lstStyle/>
          <a:p>
            <a:pPr indent="0" marL="0">
              <a:buNone/>
            </a:pPr>
            <a:r>
              <a:rPr lang="en-US" sz="1200" i="1" dirty="0">
                <a:solidFill>
                  <a:srgbClr val="5C6B73"/>
                </a:solidFill>
              </a:rPr>
              <a:t>Public subnets rather than private behind a NAT gateway - that would add about $32/month for no benefit on a cluster that lives for an hour.</a:t>
            </a:r>
            <a:endParaRPr lang="en-US" sz="12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Kubernetes and Helm on EKS</a:t>
            </a:r>
            <a:endParaRPr lang="en-US" sz="3400" dirty="0"/>
          </a:p>
        </p:txBody>
      </p:sp>
      <p:sp>
        <p:nvSpPr>
          <p:cNvPr id="3" name="k8sstate"/>
          <p:cNvSpPr/>
          <p:nvPr/>
        </p:nvSpPr>
        <p:spPr>
          <a:xfrm>
            <a:off x="640080" y="1325880"/>
            <a:ext cx="5303520" cy="2103120"/>
          </a:xfrm>
          <a:prstGeom prst="roundRect">
            <a:avLst>
              <a:gd name="adj" fmla="val 3478"/>
            </a:avLst>
          </a:prstGeom>
          <a:solidFill>
            <a:srgbClr val="F1F7F7"/>
          </a:solidFill>
          <a:ln w="12700">
            <a:solidFill>
              <a:srgbClr val="F1F7F7"/>
            </a:solidFill>
            <a:prstDash val="solid"/>
          </a:ln>
        </p:spPr>
      </p:sp>
      <p:sp>
        <p:nvSpPr>
          <p:cNvPr id="4" name="Text 2"/>
          <p:cNvSpPr txBox="1"/>
          <p:nvPr/>
        </p:nvSpPr>
        <p:spPr>
          <a:xfrm>
            <a:off x="914400" y="1508760"/>
            <a:ext cx="4572000" cy="274320"/>
          </a:xfrm>
          <a:prstGeom prst="rect">
            <a:avLst/>
          </a:prstGeom>
          <a:noFill/>
          <a:ln/>
        </p:spPr>
        <p:txBody>
          <a:bodyPr wrap="square" lIns="0" tIns="0" rIns="0" bIns="0" rtlCol="0" anchor="ctr"/>
          <a:lstStyle/>
          <a:p>
            <a:pPr indent="0" marL="0">
              <a:buNone/>
            </a:pPr>
            <a:r>
              <a:rPr lang="en-US" sz="1400" b="1" dirty="0">
                <a:solidFill>
                  <a:srgbClr val="028090"/>
                </a:solidFill>
              </a:rPr>
              <a:t>Deployed state</a:t>
            </a:r>
            <a:endParaRPr lang="en-US" sz="1400" dirty="0"/>
          </a:p>
        </p:txBody>
      </p:sp>
      <p:sp>
        <p:nvSpPr>
          <p:cNvPr id="5" name="Text 3"/>
          <p:cNvSpPr txBox="1"/>
          <p:nvPr/>
        </p:nvSpPr>
        <p:spPr>
          <a:xfrm>
            <a:off x="914400" y="1828800"/>
            <a:ext cx="4846320" cy="1463040"/>
          </a:xfrm>
          <a:prstGeom prst="rect">
            <a:avLst/>
          </a:prstGeom>
          <a:noFill/>
          <a:ln/>
        </p:spPr>
        <p:txBody>
          <a:bodyPr wrap="square" lIns="0" tIns="0" rIns="0" bIns="0" rtlCol="0" anchor="ctr"/>
          <a:lstStyle/>
          <a:p>
            <a:pPr indent="0" marL="0">
              <a:lnSpc>
                <a:spcPts val="1600"/>
              </a:lnSpc>
              <a:buNone/>
            </a:pPr>
            <a:r>
              <a:rPr lang="en-US" sz="1200" dirty="0">
                <a:solidFill>
                  <a:schemeClr val="tx1"/>
                </a:solidFill>
                <a:latin typeface="Courier New" pitchFamily="34" charset="0"/>
                <a:ea typeface="Courier New" pitchFamily="34" charset="-122"/>
                <a:cs typeface="Courier New" pitchFamily="34" charset="-120"/>
              </a:rPr>
              <a:t>backend    2/2 replicas</a:t>
            </a:r>
            <a:endParaRPr lang="en-US" sz="1200" dirty="0"/>
          </a:p>
          <a:p>
            <a:pPr indent="0" marL="0">
              <a:lnSpc>
                <a:spcPts val="1600"/>
              </a:lnSpc>
              <a:buNone/>
            </a:pPr>
            <a:r>
              <a:rPr lang="en-US" sz="1200" dirty="0">
                <a:solidFill>
                  <a:schemeClr val="tx1"/>
                </a:solidFill>
                <a:latin typeface="Courier New" pitchFamily="34" charset="0"/>
                <a:ea typeface="Courier New" pitchFamily="34" charset="-122"/>
                <a:cs typeface="Courier New" pitchFamily="34" charset="-120"/>
              </a:rPr>
              <a:t>frontend   2/2 replicas</a:t>
            </a:r>
            <a:endParaRPr lang="en-US" sz="1200" dirty="0"/>
          </a:p>
          <a:p>
            <a:pPr indent="0" marL="0">
              <a:lnSpc>
                <a:spcPts val="1600"/>
              </a:lnSpc>
              <a:buNone/>
            </a:pPr>
            <a:r>
              <a:rPr lang="en-US" sz="1200" dirty="0">
                <a:solidFill>
                  <a:schemeClr val="tx1"/>
                </a:solidFill>
                <a:latin typeface="Courier New" pitchFamily="34" charset="0"/>
                <a:ea typeface="Courier New" pitchFamily="34" charset="-122"/>
                <a:cs typeface="Courier New" pitchFamily="34" charset="-120"/>
              </a:rPr>
              <a:t>postgres   1/1 StatefulSet</a:t>
            </a:r>
            <a:endParaRPr lang="en-US" sz="1200" dirty="0"/>
          </a:p>
          <a:p>
            <a:pPr indent="0" marL="0">
              <a:lnSpc>
                <a:spcPts val="1600"/>
              </a:lnSpc>
              <a:buNone/>
            </a:pPr>
            <a:r>
              <a:rPr lang="en-US" sz="1200" dirty="0">
                <a:solidFill>
                  <a:schemeClr val="tx1"/>
                </a:solidFill>
                <a:latin typeface="Courier New" pitchFamily="34" charset="0"/>
                <a:ea typeface="Courier New" pitchFamily="34" charset="-122"/>
                <a:cs typeface="Courier New" pitchFamily="34" charset="-120"/>
              </a:rPr>
              <a:t>ingress    nginx, public AWS LB</a:t>
            </a:r>
            <a:endParaRPr lang="en-US" sz="1200" dirty="0"/>
          </a:p>
          <a:p>
            <a:pPr indent="0" marL="0">
              <a:lnSpc>
                <a:spcPts val="1600"/>
              </a:lnSpc>
              <a:buNone/>
            </a:pPr>
            <a:r>
              <a:rPr lang="en-US" sz="1200" dirty="0">
                <a:solidFill>
                  <a:schemeClr val="tx1"/>
                </a:solidFill>
                <a:latin typeface="Courier New" pitchFamily="34" charset="0"/>
                <a:ea typeface="Courier New" pitchFamily="34" charset="-122"/>
                <a:cs typeface="Courier New" pitchFamily="34" charset="-120"/>
              </a:rPr>
              <a:t>hpa        cpu 6%/60%, 2 -&gt; 6</a:t>
            </a:r>
            <a:endParaRPr lang="en-US" sz="1200" dirty="0"/>
          </a:p>
        </p:txBody>
      </p:sp>
      <p:sp>
        <p:nvSpPr>
          <p:cNvPr id="6" name="chartnotes"/>
          <p:cNvSpPr/>
          <p:nvPr/>
        </p:nvSpPr>
        <p:spPr>
          <a:xfrm>
            <a:off x="6309360" y="1325880"/>
            <a:ext cx="5212080" cy="2103120"/>
          </a:xfrm>
          <a:prstGeom prst="roundRect">
            <a:avLst>
              <a:gd name="adj" fmla="val 3478"/>
            </a:avLst>
          </a:prstGeom>
          <a:solidFill>
            <a:srgbClr val="E6F4F1"/>
          </a:solidFill>
          <a:ln w="12700">
            <a:solidFill>
              <a:srgbClr val="E6F4F1"/>
            </a:solidFill>
            <a:prstDash val="solid"/>
          </a:ln>
        </p:spPr>
      </p:sp>
      <p:sp>
        <p:nvSpPr>
          <p:cNvPr id="7" name="Text 5"/>
          <p:cNvSpPr txBox="1"/>
          <p:nvPr/>
        </p:nvSpPr>
        <p:spPr>
          <a:xfrm>
            <a:off x="6583680" y="1508760"/>
            <a:ext cx="4572000" cy="274320"/>
          </a:xfrm>
          <a:prstGeom prst="rect">
            <a:avLst/>
          </a:prstGeom>
          <a:noFill/>
          <a:ln/>
        </p:spPr>
        <p:txBody>
          <a:bodyPr wrap="square" lIns="0" tIns="0" rIns="0" bIns="0" rtlCol="0" anchor="ctr"/>
          <a:lstStyle/>
          <a:p>
            <a:pPr indent="0" marL="0">
              <a:buNone/>
            </a:pPr>
            <a:r>
              <a:rPr lang="en-US" sz="1400" b="1" dirty="0">
                <a:solidFill>
                  <a:srgbClr val="028090"/>
                </a:solidFill>
              </a:rPr>
              <a:t>Chart decisions</a:t>
            </a:r>
            <a:endParaRPr lang="en-US" sz="1400" dirty="0"/>
          </a:p>
        </p:txBody>
      </p:sp>
      <p:sp>
        <p:nvSpPr>
          <p:cNvPr id="8" name="Text 6"/>
          <p:cNvSpPr txBox="1"/>
          <p:nvPr/>
        </p:nvSpPr>
        <p:spPr>
          <a:xfrm>
            <a:off x="6583680" y="1828800"/>
            <a:ext cx="4663440" cy="146304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chemeClr val="tx1"/>
                </a:solidFill>
              </a:rPr>
              <a:t>Alembic runs in an initContainer, so the schema migrates once per rollout, not once per replica racing</a:t>
            </a:r>
            <a:endParaRPr lang="en-US" sz="1100" dirty="0"/>
          </a:p>
          <a:p>
            <a:pPr marL="342900" indent="-342900">
              <a:spcAft>
                <a:spcPts val="500"/>
              </a:spcAft>
              <a:buSzPct val="100000"/>
              <a:buChar char="•"/>
            </a:pPr>
            <a:r>
              <a:rPr lang="en-US" sz="1100" dirty="0">
                <a:solidFill>
                  <a:schemeClr val="tx1"/>
                </a:solidFill>
              </a:rPr>
              <a:t>HPA targets 60% of the CPU request, not the limit</a:t>
            </a:r>
            <a:endParaRPr lang="en-US" sz="1100" dirty="0"/>
          </a:p>
          <a:p>
            <a:pPr marL="342900" indent="-342900">
              <a:spcAft>
                <a:spcPts val="500"/>
              </a:spcAft>
              <a:buSzPct val="100000"/>
              <a:buChar char="•"/>
            </a:pPr>
            <a:r>
              <a:rPr lang="en-US" sz="1100" dirty="0">
                <a:solidFill>
                  <a:schemeClr val="tx1"/>
                </a:solidFill>
              </a:rPr>
              <a:t>Images built for linux/amd64 - the build machine is Apple Silicon, the nodes are x86_64</a:t>
            </a:r>
            <a:endParaRPr lang="en-US" sz="1100" dirty="0"/>
          </a:p>
        </p:txBody>
      </p:sp>
      <p:sp>
        <p:nvSpPr>
          <p:cNvPr id="9" name="livecurl"/>
          <p:cNvSpPr/>
          <p:nvPr/>
        </p:nvSpPr>
        <p:spPr>
          <a:xfrm>
            <a:off x="640080" y="3657600"/>
            <a:ext cx="10881360" cy="1600200"/>
          </a:xfrm>
          <a:prstGeom prst="roundRect">
            <a:avLst>
              <a:gd name="adj" fmla="val 4571"/>
            </a:avLst>
          </a:prstGeom>
          <a:solidFill>
            <a:srgbClr val="0F2027"/>
          </a:solidFill>
          <a:ln w="12700">
            <a:solidFill>
              <a:srgbClr val="0F2027"/>
            </a:solidFill>
            <a:prstDash val="solid"/>
          </a:ln>
        </p:spPr>
      </p:sp>
      <p:sp>
        <p:nvSpPr>
          <p:cNvPr id="10" name="Text 8"/>
          <p:cNvSpPr txBox="1"/>
          <p:nvPr/>
        </p:nvSpPr>
        <p:spPr>
          <a:xfrm>
            <a:off x="960120" y="3840480"/>
            <a:ext cx="7315200" cy="274320"/>
          </a:xfrm>
          <a:prstGeom prst="rect">
            <a:avLst/>
          </a:prstGeom>
          <a:noFill/>
          <a:ln/>
        </p:spPr>
        <p:txBody>
          <a:bodyPr wrap="square" lIns="0" tIns="0" rIns="0" bIns="0" rtlCol="0" anchor="ctr"/>
          <a:lstStyle/>
          <a:p>
            <a:pPr indent="0" marL="0">
              <a:buNone/>
            </a:pPr>
            <a:r>
              <a:rPr lang="en-US" sz="1200" b="1" dirty="0">
                <a:solidFill>
                  <a:srgbClr val="02C39A"/>
                </a:solidFill>
              </a:rPr>
              <a:t>Serving real traffic on a public load balancer</a:t>
            </a:r>
            <a:endParaRPr lang="en-US" sz="1200" dirty="0"/>
          </a:p>
        </p:txBody>
      </p:sp>
      <p:sp>
        <p:nvSpPr>
          <p:cNvPr id="11" name="Text 9"/>
          <p:cNvSpPr txBox="1"/>
          <p:nvPr/>
        </p:nvSpPr>
        <p:spPr>
          <a:xfrm>
            <a:off x="960120" y="4160520"/>
            <a:ext cx="10424160" cy="1005840"/>
          </a:xfrm>
          <a:prstGeom prst="rect">
            <a:avLst/>
          </a:prstGeom>
          <a:noFill/>
          <a:ln/>
        </p:spPr>
        <p:txBody>
          <a:bodyPr wrap="square" lIns="0" tIns="0" rIns="0" bIns="0" rtlCol="0" anchor="ctr"/>
          <a:lstStyle/>
          <a:p>
            <a:pPr indent="0" marL="0">
              <a:lnSpc>
                <a:spcPts val="1400"/>
              </a:lnSpc>
              <a:buNone/>
            </a:pPr>
            <a:r>
              <a:rPr lang="en-US" sz="1000" dirty="0">
                <a:solidFill>
                  <a:srgbClr val="00A896"/>
                </a:solidFill>
                <a:latin typeface="Courier New" pitchFamily="34" charset="0"/>
                <a:ea typeface="Courier New" pitchFamily="34" charset="-122"/>
                <a:cs typeface="Courier New" pitchFamily="34" charset="-120"/>
              </a:rPr>
              <a:t>$ curl http://ada910aa...elb.eu-north-1.amazonaws.com/</a:t>
            </a:r>
            <a:endParaRPr lang="en-US" sz="1000" dirty="0"/>
          </a:p>
          <a:p>
            <a:pPr indent="0" marL="0">
              <a:lnSpc>
                <a:spcPts val="1400"/>
              </a:lnSpc>
              <a:buNone/>
            </a:pPr>
            <a:r>
              <a:rPr lang="en-US" sz="1000" dirty="0">
                <a:solidFill>
                  <a:srgbClr val="C9D6D8"/>
                </a:solidFill>
                <a:latin typeface="Courier New" pitchFamily="34" charset="0"/>
                <a:ea typeface="Courier New" pitchFamily="34" charset="-122"/>
                <a:cs typeface="Courier New" pitchFamily="34" charset="-120"/>
              </a:rPr>
              <a:t>&lt;title&gt;CampusDesk&lt;/title&gt;</a:t>
            </a:r>
            <a:endParaRPr lang="en-US" sz="1000" dirty="0"/>
          </a:p>
          <a:p>
            <a:pPr indent="0" marL="0">
              <a:lnSpc>
                <a:spcPts val="1400"/>
              </a:lnSpc>
              <a:buNone/>
            </a:pPr>
            <a:r>
              <a:rPr lang="en-US" sz="1000" dirty="0">
                <a:solidFill>
                  <a:srgbClr val="00A896"/>
                </a:solidFill>
                <a:latin typeface="Courier New" pitchFamily="34" charset="0"/>
                <a:ea typeface="Courier New" pitchFamily="34" charset="-122"/>
                <a:cs typeface="Courier New" pitchFamily="34" charset="-120"/>
              </a:rPr>
              <a:t>$ curl http://ada910aa...elb.eu-north-1.amazonaws.com/api/stats</a:t>
            </a:r>
            <a:endParaRPr lang="en-US" sz="1000" dirty="0"/>
          </a:p>
          <a:p>
            <a:pPr indent="0" marL="0">
              <a:lnSpc>
                <a:spcPts val="1400"/>
              </a:lnSpc>
              <a:buNone/>
            </a:pPr>
            <a:r>
              <a:rPr lang="en-US" sz="1000" dirty="0">
                <a:solidFill>
                  <a:srgbClr val="C9D6D8"/>
                </a:solidFill>
                <a:latin typeface="Courier New" pitchFamily="34" charset="0"/>
                <a:ea typeface="Courier New" pitchFamily="34" charset="-122"/>
                <a:cs typeface="Courier New" pitchFamily="34" charset="-120"/>
              </a:rPr>
              <a:t>{"total":7,"open":7,"urgent_open":2,"by_building":{"Hostel A":2,...}}</a:t>
            </a:r>
            <a:endParaRPr lang="en-US" sz="1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bg1"/>
                </a:solidFill>
              </a:rPr>
              <a:t>Observability</a:t>
            </a:r>
            <a:endParaRPr lang="en-US" sz="3400" dirty="0"/>
          </a:p>
        </p:txBody>
      </p:sp>
      <p:sp>
        <p:nvSpPr>
          <p:cNvPr id="3" name="Text 1"/>
          <p:cNvSpPr txBox="1"/>
          <p:nvPr/>
        </p:nvSpPr>
        <p:spPr>
          <a:xfrm>
            <a:off x="640080" y="1234440"/>
            <a:ext cx="10058400" cy="320040"/>
          </a:xfrm>
          <a:prstGeom prst="rect">
            <a:avLst/>
          </a:prstGeom>
          <a:noFill/>
          <a:ln/>
        </p:spPr>
        <p:txBody>
          <a:bodyPr wrap="square" lIns="0" tIns="0" rIns="0" bIns="0" rtlCol="0" anchor="ctr"/>
          <a:lstStyle/>
          <a:p>
            <a:pPr indent="0" marL="0">
              <a:buNone/>
            </a:pPr>
            <a:r>
              <a:rPr lang="en-US" sz="1400" i="1" dirty="0">
                <a:solidFill>
                  <a:srgbClr val="02C39A"/>
                </a:solidFill>
              </a:rPr>
              <a:t>Request rate says the service is alive. These say whether the campus is getting fixed.</a:t>
            </a:r>
            <a:endParaRPr lang="en-US" sz="1400" dirty="0"/>
          </a:p>
        </p:txBody>
      </p:sp>
      <p:sp>
        <p:nvSpPr>
          <p:cNvPr id="4" name="met0"/>
          <p:cNvSpPr/>
          <p:nvPr/>
        </p:nvSpPr>
        <p:spPr>
          <a:xfrm>
            <a:off x="640080" y="1783080"/>
            <a:ext cx="10881360" cy="548640"/>
          </a:xfrm>
          <a:prstGeom prst="roundRect">
            <a:avLst>
              <a:gd name="adj" fmla="val 8333"/>
            </a:avLst>
          </a:prstGeom>
          <a:solidFill>
            <a:srgbClr val="13343B"/>
          </a:solidFill>
          <a:ln w="12700">
            <a:solidFill>
              <a:srgbClr val="13343B"/>
            </a:solidFill>
            <a:prstDash val="solid"/>
          </a:ln>
        </p:spPr>
      </p:sp>
      <p:sp>
        <p:nvSpPr>
          <p:cNvPr id="5" name="Text 3"/>
          <p:cNvSpPr txBox="1"/>
          <p:nvPr/>
        </p:nvSpPr>
        <p:spPr>
          <a:xfrm>
            <a:off x="868680" y="1901952"/>
            <a:ext cx="4206240" cy="320040"/>
          </a:xfrm>
          <a:prstGeom prst="rect">
            <a:avLst/>
          </a:prstGeom>
          <a:noFill/>
          <a:ln/>
        </p:spPr>
        <p:txBody>
          <a:bodyPr wrap="square" lIns="0" tIns="0" rIns="0" bIns="0" rtlCol="0" anchor="ctr"/>
          <a:lstStyle/>
          <a:p>
            <a:pPr indent="0" marL="0">
              <a:buNone/>
            </a:pPr>
            <a:r>
              <a:rPr lang="en-US" sz="1100" dirty="0">
                <a:solidFill>
                  <a:srgbClr val="02C39A"/>
                </a:solidFill>
                <a:latin typeface="Courier New" pitchFamily="34" charset="0"/>
                <a:ea typeface="Courier New" pitchFamily="34" charset="-122"/>
                <a:cs typeface="Courier New" pitchFamily="34" charset="-120"/>
              </a:rPr>
              <a:t>campusdesk_issues_open</a:t>
            </a:r>
            <a:endParaRPr lang="en-US" sz="1100" dirty="0"/>
          </a:p>
        </p:txBody>
      </p:sp>
      <p:sp>
        <p:nvSpPr>
          <p:cNvPr id="6" name="Text 4"/>
          <p:cNvSpPr txBox="1"/>
          <p:nvPr/>
        </p:nvSpPr>
        <p:spPr>
          <a:xfrm>
            <a:off x="5212080" y="1920240"/>
            <a:ext cx="1463040" cy="274320"/>
          </a:xfrm>
          <a:prstGeom prst="rect">
            <a:avLst/>
          </a:prstGeom>
          <a:noFill/>
          <a:ln/>
        </p:spPr>
        <p:txBody>
          <a:bodyPr wrap="square" lIns="0" tIns="0" rIns="0" bIns="0" rtlCol="0" anchor="ctr"/>
          <a:lstStyle/>
          <a:p>
            <a:pPr indent="0" marL="0">
              <a:buNone/>
            </a:pPr>
            <a:r>
              <a:rPr lang="en-US" sz="1100" b="1" dirty="0">
                <a:solidFill>
                  <a:srgbClr val="F0A202"/>
                </a:solidFill>
              </a:rPr>
              <a:t>gauge</a:t>
            </a:r>
            <a:endParaRPr lang="en-US" sz="1100" dirty="0"/>
          </a:p>
        </p:txBody>
      </p:sp>
      <p:sp>
        <p:nvSpPr>
          <p:cNvPr id="7" name="Text 5"/>
          <p:cNvSpPr txBox="1"/>
          <p:nvPr/>
        </p:nvSpPr>
        <p:spPr>
          <a:xfrm>
            <a:off x="6766560" y="1920240"/>
            <a:ext cx="4754880" cy="274320"/>
          </a:xfrm>
          <a:prstGeom prst="rect">
            <a:avLst/>
          </a:prstGeom>
          <a:noFill/>
          <a:ln/>
        </p:spPr>
        <p:txBody>
          <a:bodyPr wrap="square" lIns="0" tIns="0" rIns="0" bIns="0" rtlCol="0" anchor="ctr"/>
          <a:lstStyle/>
          <a:p>
            <a:pPr indent="0" marL="0">
              <a:buNone/>
            </a:pPr>
            <a:r>
              <a:rPr lang="en-US" sz="1100" dirty="0">
                <a:solidFill>
                  <a:srgbClr val="C9D6D8"/>
                </a:solidFill>
              </a:rPr>
              <a:t>current backlog, by priority</a:t>
            </a:r>
            <a:endParaRPr lang="en-US" sz="1100" dirty="0"/>
          </a:p>
        </p:txBody>
      </p:sp>
      <p:sp>
        <p:nvSpPr>
          <p:cNvPr id="8" name="met1"/>
          <p:cNvSpPr/>
          <p:nvPr/>
        </p:nvSpPr>
        <p:spPr>
          <a:xfrm>
            <a:off x="640080" y="2441448"/>
            <a:ext cx="10881360" cy="548640"/>
          </a:xfrm>
          <a:prstGeom prst="roundRect">
            <a:avLst>
              <a:gd name="adj" fmla="val 8333"/>
            </a:avLst>
          </a:prstGeom>
          <a:solidFill>
            <a:srgbClr val="13343B"/>
          </a:solidFill>
          <a:ln w="12700">
            <a:solidFill>
              <a:srgbClr val="13343B"/>
            </a:solidFill>
            <a:prstDash val="solid"/>
          </a:ln>
        </p:spPr>
      </p:sp>
      <p:sp>
        <p:nvSpPr>
          <p:cNvPr id="9" name="Text 7"/>
          <p:cNvSpPr txBox="1"/>
          <p:nvPr/>
        </p:nvSpPr>
        <p:spPr>
          <a:xfrm>
            <a:off x="868680" y="2560320"/>
            <a:ext cx="4206240" cy="320040"/>
          </a:xfrm>
          <a:prstGeom prst="rect">
            <a:avLst/>
          </a:prstGeom>
          <a:noFill/>
          <a:ln/>
        </p:spPr>
        <p:txBody>
          <a:bodyPr wrap="square" lIns="0" tIns="0" rIns="0" bIns="0" rtlCol="0" anchor="ctr"/>
          <a:lstStyle/>
          <a:p>
            <a:pPr indent="0" marL="0">
              <a:buNone/>
            </a:pPr>
            <a:r>
              <a:rPr lang="en-US" sz="1100" dirty="0">
                <a:solidFill>
                  <a:srgbClr val="02C39A"/>
                </a:solidFill>
                <a:latin typeface="Courier New" pitchFamily="34" charset="0"/>
                <a:ea typeface="Courier New" pitchFamily="34" charset="-122"/>
                <a:cs typeface="Courier New" pitchFamily="34" charset="-120"/>
              </a:rPr>
              <a:t>campusdesk_issues_created_total</a:t>
            </a:r>
            <a:endParaRPr lang="en-US" sz="1100" dirty="0"/>
          </a:p>
        </p:txBody>
      </p:sp>
      <p:sp>
        <p:nvSpPr>
          <p:cNvPr id="10" name="Text 8"/>
          <p:cNvSpPr txBox="1"/>
          <p:nvPr/>
        </p:nvSpPr>
        <p:spPr>
          <a:xfrm>
            <a:off x="5212080" y="2578608"/>
            <a:ext cx="1463040" cy="274320"/>
          </a:xfrm>
          <a:prstGeom prst="rect">
            <a:avLst/>
          </a:prstGeom>
          <a:noFill/>
          <a:ln/>
        </p:spPr>
        <p:txBody>
          <a:bodyPr wrap="square" lIns="0" tIns="0" rIns="0" bIns="0" rtlCol="0" anchor="ctr"/>
          <a:lstStyle/>
          <a:p>
            <a:pPr indent="0" marL="0">
              <a:buNone/>
            </a:pPr>
            <a:r>
              <a:rPr lang="en-US" sz="1100" b="1" dirty="0">
                <a:solidFill>
                  <a:srgbClr val="F0A202"/>
                </a:solidFill>
              </a:rPr>
              <a:t>counter</a:t>
            </a:r>
            <a:endParaRPr lang="en-US" sz="1100" dirty="0"/>
          </a:p>
        </p:txBody>
      </p:sp>
      <p:sp>
        <p:nvSpPr>
          <p:cNvPr id="11" name="Text 9"/>
          <p:cNvSpPr txBox="1"/>
          <p:nvPr/>
        </p:nvSpPr>
        <p:spPr>
          <a:xfrm>
            <a:off x="6766560" y="2578608"/>
            <a:ext cx="4754880" cy="274320"/>
          </a:xfrm>
          <a:prstGeom prst="rect">
            <a:avLst/>
          </a:prstGeom>
          <a:noFill/>
          <a:ln/>
        </p:spPr>
        <p:txBody>
          <a:bodyPr wrap="square" lIns="0" tIns="0" rIns="0" bIns="0" rtlCol="0" anchor="ctr"/>
          <a:lstStyle/>
          <a:p>
            <a:pPr indent="0" marL="0">
              <a:buNone/>
            </a:pPr>
            <a:r>
              <a:rPr lang="en-US" sz="1100" dirty="0">
                <a:solidFill>
                  <a:srgbClr val="C9D6D8"/>
                </a:solidFill>
              </a:rPr>
              <a:t>reported, by category</a:t>
            </a:r>
            <a:endParaRPr lang="en-US" sz="1100" dirty="0"/>
          </a:p>
        </p:txBody>
      </p:sp>
      <p:sp>
        <p:nvSpPr>
          <p:cNvPr id="12" name="met2"/>
          <p:cNvSpPr/>
          <p:nvPr/>
        </p:nvSpPr>
        <p:spPr>
          <a:xfrm>
            <a:off x="640080" y="3099816"/>
            <a:ext cx="10881360" cy="548640"/>
          </a:xfrm>
          <a:prstGeom prst="roundRect">
            <a:avLst>
              <a:gd name="adj" fmla="val 8333"/>
            </a:avLst>
          </a:prstGeom>
          <a:solidFill>
            <a:srgbClr val="13343B"/>
          </a:solidFill>
          <a:ln w="12700">
            <a:solidFill>
              <a:srgbClr val="13343B"/>
            </a:solidFill>
            <a:prstDash val="solid"/>
          </a:ln>
        </p:spPr>
      </p:sp>
      <p:sp>
        <p:nvSpPr>
          <p:cNvPr id="13" name="Text 11"/>
          <p:cNvSpPr txBox="1"/>
          <p:nvPr/>
        </p:nvSpPr>
        <p:spPr>
          <a:xfrm>
            <a:off x="868680" y="3218688"/>
            <a:ext cx="4206240" cy="320040"/>
          </a:xfrm>
          <a:prstGeom prst="rect">
            <a:avLst/>
          </a:prstGeom>
          <a:noFill/>
          <a:ln/>
        </p:spPr>
        <p:txBody>
          <a:bodyPr wrap="square" lIns="0" tIns="0" rIns="0" bIns="0" rtlCol="0" anchor="ctr"/>
          <a:lstStyle/>
          <a:p>
            <a:pPr indent="0" marL="0">
              <a:buNone/>
            </a:pPr>
            <a:r>
              <a:rPr lang="en-US" sz="1100" dirty="0">
                <a:solidFill>
                  <a:srgbClr val="02C39A"/>
                </a:solidFill>
                <a:latin typeface="Courier New" pitchFamily="34" charset="0"/>
                <a:ea typeface="Courier New" pitchFamily="34" charset="-122"/>
                <a:cs typeface="Courier New" pitchFamily="34" charset="-120"/>
              </a:rPr>
              <a:t>campusdesk_issues_resolved_total</a:t>
            </a:r>
            <a:endParaRPr lang="en-US" sz="1100" dirty="0"/>
          </a:p>
        </p:txBody>
      </p:sp>
      <p:sp>
        <p:nvSpPr>
          <p:cNvPr id="14" name="Text 12"/>
          <p:cNvSpPr txBox="1"/>
          <p:nvPr/>
        </p:nvSpPr>
        <p:spPr>
          <a:xfrm>
            <a:off x="5212080" y="3236976"/>
            <a:ext cx="1463040" cy="274320"/>
          </a:xfrm>
          <a:prstGeom prst="rect">
            <a:avLst/>
          </a:prstGeom>
          <a:noFill/>
          <a:ln/>
        </p:spPr>
        <p:txBody>
          <a:bodyPr wrap="square" lIns="0" tIns="0" rIns="0" bIns="0" rtlCol="0" anchor="ctr"/>
          <a:lstStyle/>
          <a:p>
            <a:pPr indent="0" marL="0">
              <a:buNone/>
            </a:pPr>
            <a:r>
              <a:rPr lang="en-US" sz="1100" b="1" dirty="0">
                <a:solidFill>
                  <a:srgbClr val="F0A202"/>
                </a:solidFill>
              </a:rPr>
              <a:t>counter</a:t>
            </a:r>
            <a:endParaRPr lang="en-US" sz="1100" dirty="0"/>
          </a:p>
        </p:txBody>
      </p:sp>
      <p:sp>
        <p:nvSpPr>
          <p:cNvPr id="15" name="Text 13"/>
          <p:cNvSpPr txBox="1"/>
          <p:nvPr/>
        </p:nvSpPr>
        <p:spPr>
          <a:xfrm>
            <a:off x="6766560" y="3236976"/>
            <a:ext cx="4754880" cy="274320"/>
          </a:xfrm>
          <a:prstGeom prst="rect">
            <a:avLst/>
          </a:prstGeom>
          <a:noFill/>
          <a:ln/>
        </p:spPr>
        <p:txBody>
          <a:bodyPr wrap="square" lIns="0" tIns="0" rIns="0" bIns="0" rtlCol="0" anchor="ctr"/>
          <a:lstStyle/>
          <a:p>
            <a:pPr indent="0" marL="0">
              <a:buNone/>
            </a:pPr>
            <a:r>
              <a:rPr lang="en-US" sz="1100" dirty="0">
                <a:solidFill>
                  <a:srgbClr val="C9D6D8"/>
                </a:solidFill>
              </a:rPr>
              <a:t>closed, by category</a:t>
            </a:r>
            <a:endParaRPr lang="en-US" sz="1100" dirty="0"/>
          </a:p>
        </p:txBody>
      </p:sp>
      <p:sp>
        <p:nvSpPr>
          <p:cNvPr id="16" name="met3"/>
          <p:cNvSpPr/>
          <p:nvPr/>
        </p:nvSpPr>
        <p:spPr>
          <a:xfrm>
            <a:off x="640080" y="3758184"/>
            <a:ext cx="10881360" cy="548640"/>
          </a:xfrm>
          <a:prstGeom prst="roundRect">
            <a:avLst>
              <a:gd name="adj" fmla="val 8333"/>
            </a:avLst>
          </a:prstGeom>
          <a:solidFill>
            <a:srgbClr val="13343B"/>
          </a:solidFill>
          <a:ln w="12700">
            <a:solidFill>
              <a:srgbClr val="13343B"/>
            </a:solidFill>
            <a:prstDash val="solid"/>
          </a:ln>
        </p:spPr>
      </p:sp>
      <p:sp>
        <p:nvSpPr>
          <p:cNvPr id="17" name="Text 15"/>
          <p:cNvSpPr txBox="1"/>
          <p:nvPr/>
        </p:nvSpPr>
        <p:spPr>
          <a:xfrm>
            <a:off x="868680" y="3877056"/>
            <a:ext cx="4206240" cy="320040"/>
          </a:xfrm>
          <a:prstGeom prst="rect">
            <a:avLst/>
          </a:prstGeom>
          <a:noFill/>
          <a:ln/>
        </p:spPr>
        <p:txBody>
          <a:bodyPr wrap="square" lIns="0" tIns="0" rIns="0" bIns="0" rtlCol="0" anchor="ctr"/>
          <a:lstStyle/>
          <a:p>
            <a:pPr indent="0" marL="0">
              <a:buNone/>
            </a:pPr>
            <a:r>
              <a:rPr lang="en-US" sz="1100" dirty="0">
                <a:solidFill>
                  <a:srgbClr val="02C39A"/>
                </a:solidFill>
                <a:latin typeface="Courier New" pitchFamily="34" charset="0"/>
                <a:ea typeface="Courier New" pitchFamily="34" charset="-122"/>
                <a:cs typeface="Courier New" pitchFamily="34" charset="-120"/>
              </a:rPr>
              <a:t>campusdesk_issue_resolution_seconds</a:t>
            </a:r>
            <a:endParaRPr lang="en-US" sz="1100" dirty="0"/>
          </a:p>
        </p:txBody>
      </p:sp>
      <p:sp>
        <p:nvSpPr>
          <p:cNvPr id="18" name="Text 16"/>
          <p:cNvSpPr txBox="1"/>
          <p:nvPr/>
        </p:nvSpPr>
        <p:spPr>
          <a:xfrm>
            <a:off x="5212080" y="3895344"/>
            <a:ext cx="1463040" cy="274320"/>
          </a:xfrm>
          <a:prstGeom prst="rect">
            <a:avLst/>
          </a:prstGeom>
          <a:noFill/>
          <a:ln/>
        </p:spPr>
        <p:txBody>
          <a:bodyPr wrap="square" lIns="0" tIns="0" rIns="0" bIns="0" rtlCol="0" anchor="ctr"/>
          <a:lstStyle/>
          <a:p>
            <a:pPr indent="0" marL="0">
              <a:buNone/>
            </a:pPr>
            <a:r>
              <a:rPr lang="en-US" sz="1100" b="1" dirty="0">
                <a:solidFill>
                  <a:srgbClr val="F0A202"/>
                </a:solidFill>
              </a:rPr>
              <a:t>histogram</a:t>
            </a:r>
            <a:endParaRPr lang="en-US" sz="1100" dirty="0"/>
          </a:p>
        </p:txBody>
      </p:sp>
      <p:sp>
        <p:nvSpPr>
          <p:cNvPr id="19" name="Text 17"/>
          <p:cNvSpPr txBox="1"/>
          <p:nvPr/>
        </p:nvSpPr>
        <p:spPr>
          <a:xfrm>
            <a:off x="6766560" y="3895344"/>
            <a:ext cx="4754880" cy="274320"/>
          </a:xfrm>
          <a:prstGeom prst="rect">
            <a:avLst/>
          </a:prstGeom>
          <a:noFill/>
          <a:ln/>
        </p:spPr>
        <p:txBody>
          <a:bodyPr wrap="square" lIns="0" tIns="0" rIns="0" bIns="0" rtlCol="0" anchor="ctr"/>
          <a:lstStyle/>
          <a:p>
            <a:pPr indent="0" marL="0">
              <a:buNone/>
            </a:pPr>
            <a:r>
              <a:rPr lang="en-US" sz="1100" dirty="0">
                <a:solidFill>
                  <a:srgbClr val="C9D6D8"/>
                </a:solidFill>
              </a:rPr>
              <a:t>report to resolution</a:t>
            </a:r>
            <a:endParaRPr lang="en-US" sz="1100" dirty="0"/>
          </a:p>
        </p:txBody>
      </p:sp>
      <p:sp>
        <p:nvSpPr>
          <p:cNvPr id="20" name="Text 18"/>
          <p:cNvSpPr txBox="1"/>
          <p:nvPr/>
        </p:nvSpPr>
        <p:spPr>
          <a:xfrm>
            <a:off x="640080" y="4572000"/>
            <a:ext cx="10881360" cy="640080"/>
          </a:xfrm>
          <a:prstGeom prst="rect">
            <a:avLst/>
          </a:prstGeom>
          <a:noFill/>
          <a:ln/>
        </p:spPr>
        <p:txBody>
          <a:bodyPr wrap="square" lIns="0" tIns="0" rIns="0" bIns="0" rtlCol="0" anchor="ctr"/>
          <a:lstStyle/>
          <a:p>
            <a:pPr indent="0" marL="0">
              <a:buNone/>
            </a:pPr>
            <a:r>
              <a:rPr lang="en-US" sz="1200" dirty="0">
                <a:solidFill>
                  <a:srgbClr val="5C6B73"/>
                </a:solidFill>
              </a:rPr>
              <a:t>The gauge is recomputed from the database after every write, never incremented - a gauge must reflect current state. Every priority label is set explicitly, including the zeroes, or a priority that drops to zero keeps its last value forever.</a:t>
            </a:r>
            <a:endParaRPr lang="en-US" sz="1200" dirty="0"/>
          </a:p>
        </p:txBody>
      </p:sp>
      <p:sp>
        <p:nvSpPr>
          <p:cNvPr id="21" name="Text 19"/>
          <p:cNvSpPr txBox="1"/>
          <p:nvPr/>
        </p:nvSpPr>
        <p:spPr>
          <a:xfrm>
            <a:off x="640080" y="5303520"/>
            <a:ext cx="10881360" cy="365760"/>
          </a:xfrm>
          <a:prstGeom prst="rect">
            <a:avLst/>
          </a:prstGeom>
          <a:noFill/>
          <a:ln/>
        </p:spPr>
        <p:txBody>
          <a:bodyPr wrap="square" lIns="0" tIns="0" rIns="0" bIns="0" rtlCol="0" anchor="ctr"/>
          <a:lstStyle/>
          <a:p>
            <a:pPr indent="0" marL="0">
              <a:buNone/>
            </a:pPr>
            <a:r>
              <a:rPr lang="en-US" sz="1300" b="1" dirty="0">
                <a:solidFill>
                  <a:srgbClr val="00A896"/>
                </a:solidFill>
              </a:rPr>
              <a:t>Prometheus scraped both backend pods (health=up). Grafana served a 7-panel dashboard.</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Six bugs worth recording</a:t>
            </a:r>
            <a:endParaRPr lang="en-US" sz="3400" dirty="0"/>
          </a:p>
        </p:txBody>
      </p:sp>
      <p:sp>
        <p:nvSpPr>
          <p:cNvPr id="3" name="bug0"/>
          <p:cNvSpPr/>
          <p:nvPr/>
        </p:nvSpPr>
        <p:spPr>
          <a:xfrm>
            <a:off x="640080" y="1280160"/>
            <a:ext cx="5303520" cy="1280160"/>
          </a:xfrm>
          <a:prstGeom prst="roundRect">
            <a:avLst>
              <a:gd name="adj" fmla="val 5714"/>
            </a:avLst>
          </a:prstGeom>
          <a:solidFill>
            <a:srgbClr val="F1F7F7"/>
          </a:solidFill>
          <a:ln w="12700">
            <a:solidFill>
              <a:srgbClr val="F1F7F7"/>
            </a:solidFill>
            <a:prstDash val="solid"/>
          </a:ln>
        </p:spPr>
      </p:sp>
      <p:sp>
        <p:nvSpPr>
          <p:cNvPr id="4" name="Shape 2"/>
          <p:cNvSpPr/>
          <p:nvPr/>
        </p:nvSpPr>
        <p:spPr>
          <a:xfrm>
            <a:off x="841248" y="1481328"/>
            <a:ext cx="365760" cy="365760"/>
          </a:xfrm>
          <a:prstGeom prst="ellipse">
            <a:avLst/>
          </a:prstGeom>
          <a:solidFill>
            <a:srgbClr val="E05263"/>
          </a:solidFill>
          <a:ln w="12700">
            <a:solidFill>
              <a:srgbClr val="E05263"/>
            </a:solidFill>
            <a:prstDash val="solid"/>
          </a:ln>
        </p:spPr>
      </p:sp>
      <p:sp>
        <p:nvSpPr>
          <p:cNvPr id="5" name="Text 3"/>
          <p:cNvSpPr txBox="1"/>
          <p:nvPr/>
        </p:nvSpPr>
        <p:spPr>
          <a:xfrm>
            <a:off x="841248" y="1481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325880" y="1435608"/>
            <a:ext cx="4389120" cy="256032"/>
          </a:xfrm>
          <a:prstGeom prst="rect">
            <a:avLst/>
          </a:prstGeom>
          <a:noFill/>
          <a:ln/>
        </p:spPr>
        <p:txBody>
          <a:bodyPr wrap="square" lIns="0" tIns="0" rIns="0" bIns="0" rtlCol="0" anchor="ctr"/>
          <a:lstStyle/>
          <a:p>
            <a:pPr indent="0" marL="0">
              <a:buNone/>
            </a:pPr>
            <a:r>
              <a:rPr lang="en-US" sz="1300" b="1" dirty="0">
                <a:solidFill>
                  <a:schemeClr val="tx1"/>
                </a:solidFill>
              </a:rPr>
              <a:t>Migration crashed</a:t>
            </a:r>
            <a:endParaRPr lang="en-US" sz="1300" dirty="0"/>
          </a:p>
        </p:txBody>
      </p:sp>
      <p:sp>
        <p:nvSpPr>
          <p:cNvPr id="7" name="Text 5"/>
          <p:cNvSpPr txBox="1"/>
          <p:nvPr/>
        </p:nvSpPr>
        <p:spPr>
          <a:xfrm>
            <a:off x="1325880" y="1691640"/>
            <a:ext cx="4480560" cy="237744"/>
          </a:xfrm>
          <a:prstGeom prst="rect">
            <a:avLst/>
          </a:prstGeom>
          <a:noFill/>
          <a:ln/>
        </p:spPr>
        <p:txBody>
          <a:bodyPr wrap="square" lIns="0" tIns="0" rIns="0" bIns="0" rtlCol="0" anchor="ctr"/>
          <a:lstStyle/>
          <a:p>
            <a:pPr indent="0" marL="0">
              <a:buNone/>
            </a:pPr>
            <a:r>
              <a:rPr lang="en-US" sz="1000" dirty="0">
                <a:solidFill>
                  <a:srgbClr val="E05263"/>
                </a:solidFill>
                <a:latin typeface="Courier New" pitchFamily="34" charset="0"/>
                <a:ea typeface="Courier New" pitchFamily="34" charset="-122"/>
                <a:cs typeface="Courier New" pitchFamily="34" charset="-120"/>
              </a:rPr>
              <a:t>type "category" already exists</a:t>
            </a:r>
            <a:endParaRPr lang="en-US" sz="1000" dirty="0"/>
          </a:p>
        </p:txBody>
      </p:sp>
      <p:sp>
        <p:nvSpPr>
          <p:cNvPr id="8" name="Text 6"/>
          <p:cNvSpPr txBox="1"/>
          <p:nvPr/>
        </p:nvSpPr>
        <p:spPr>
          <a:xfrm>
            <a:off x="914400" y="1956816"/>
            <a:ext cx="4846320" cy="502920"/>
          </a:xfrm>
          <a:prstGeom prst="rect">
            <a:avLst/>
          </a:prstGeom>
          <a:noFill/>
          <a:ln/>
        </p:spPr>
        <p:txBody>
          <a:bodyPr wrap="square" lIns="0" tIns="0" rIns="0" bIns="0" rtlCol="0" anchor="ctr"/>
          <a:lstStyle/>
          <a:p>
            <a:pPr indent="0" marL="0">
              <a:buNone/>
            </a:pPr>
            <a:r>
              <a:rPr lang="en-US" sz="1050" dirty="0">
                <a:solidFill>
                  <a:srgbClr val="5C6B73"/>
                </a:solidFill>
              </a:rPr>
              <a:t>sa.Enum emits its own CREATE TYPE on top of the explicit one. Fixed with create_type=False.</a:t>
            </a:r>
            <a:endParaRPr lang="en-US" sz="1050" dirty="0"/>
          </a:p>
        </p:txBody>
      </p:sp>
      <p:sp>
        <p:nvSpPr>
          <p:cNvPr id="9" name="bug1"/>
          <p:cNvSpPr/>
          <p:nvPr/>
        </p:nvSpPr>
        <p:spPr>
          <a:xfrm>
            <a:off x="6217920" y="1280160"/>
            <a:ext cx="5303520" cy="1280160"/>
          </a:xfrm>
          <a:prstGeom prst="roundRect">
            <a:avLst>
              <a:gd name="adj" fmla="val 5714"/>
            </a:avLst>
          </a:prstGeom>
          <a:solidFill>
            <a:srgbClr val="F1F7F7"/>
          </a:solidFill>
          <a:ln w="12700">
            <a:solidFill>
              <a:srgbClr val="F1F7F7"/>
            </a:solidFill>
            <a:prstDash val="solid"/>
          </a:ln>
        </p:spPr>
      </p:sp>
      <p:sp>
        <p:nvSpPr>
          <p:cNvPr id="10" name="Shape 8"/>
          <p:cNvSpPr/>
          <p:nvPr/>
        </p:nvSpPr>
        <p:spPr>
          <a:xfrm>
            <a:off x="6419088" y="1481328"/>
            <a:ext cx="365760" cy="365760"/>
          </a:xfrm>
          <a:prstGeom prst="ellipse">
            <a:avLst/>
          </a:prstGeom>
          <a:solidFill>
            <a:srgbClr val="E05263"/>
          </a:solidFill>
          <a:ln w="12700">
            <a:solidFill>
              <a:srgbClr val="E05263"/>
            </a:solidFill>
            <a:prstDash val="solid"/>
          </a:ln>
        </p:spPr>
      </p:sp>
      <p:sp>
        <p:nvSpPr>
          <p:cNvPr id="11" name="Text 9"/>
          <p:cNvSpPr txBox="1"/>
          <p:nvPr/>
        </p:nvSpPr>
        <p:spPr>
          <a:xfrm>
            <a:off x="6419088" y="1481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903720" y="1435608"/>
            <a:ext cx="4389120" cy="256032"/>
          </a:xfrm>
          <a:prstGeom prst="rect">
            <a:avLst/>
          </a:prstGeom>
          <a:noFill/>
          <a:ln/>
        </p:spPr>
        <p:txBody>
          <a:bodyPr wrap="square" lIns="0" tIns="0" rIns="0" bIns="0" rtlCol="0" anchor="ctr"/>
          <a:lstStyle/>
          <a:p>
            <a:pPr indent="0" marL="0">
              <a:buNone/>
            </a:pPr>
            <a:r>
              <a:rPr lang="en-US" sz="1300" b="1" dirty="0">
                <a:solidFill>
                  <a:schemeClr val="tx1"/>
                </a:solidFill>
              </a:rPr>
              <a:t>Every write failed</a:t>
            </a:r>
            <a:endParaRPr lang="en-US" sz="1300" dirty="0"/>
          </a:p>
        </p:txBody>
      </p:sp>
      <p:sp>
        <p:nvSpPr>
          <p:cNvPr id="13" name="Text 11"/>
          <p:cNvSpPr txBox="1"/>
          <p:nvPr/>
        </p:nvSpPr>
        <p:spPr>
          <a:xfrm>
            <a:off x="6903720" y="1691640"/>
            <a:ext cx="4480560" cy="237744"/>
          </a:xfrm>
          <a:prstGeom prst="rect">
            <a:avLst/>
          </a:prstGeom>
          <a:noFill/>
          <a:ln/>
        </p:spPr>
        <p:txBody>
          <a:bodyPr wrap="square" lIns="0" tIns="0" rIns="0" bIns="0" rtlCol="0" anchor="ctr"/>
          <a:lstStyle/>
          <a:p>
            <a:pPr indent="0" marL="0">
              <a:buNone/>
            </a:pPr>
            <a:r>
              <a:rPr lang="en-US" sz="1000" dirty="0">
                <a:solidFill>
                  <a:srgbClr val="E05263"/>
                </a:solidFill>
                <a:latin typeface="Courier New" pitchFamily="34" charset="0"/>
                <a:ea typeface="Courier New" pitchFamily="34" charset="-122"/>
                <a:cs typeface="Courier New" pitchFamily="34" charset="-120"/>
              </a:rPr>
              <a:t>invalid input value for enum: "RESOLVED"</a:t>
            </a:r>
            <a:endParaRPr lang="en-US" sz="1000" dirty="0"/>
          </a:p>
        </p:txBody>
      </p:sp>
      <p:sp>
        <p:nvSpPr>
          <p:cNvPr id="14" name="Text 12"/>
          <p:cNvSpPr txBox="1"/>
          <p:nvPr/>
        </p:nvSpPr>
        <p:spPr>
          <a:xfrm>
            <a:off x="6492240" y="1956816"/>
            <a:ext cx="4846320" cy="502920"/>
          </a:xfrm>
          <a:prstGeom prst="rect">
            <a:avLst/>
          </a:prstGeom>
          <a:noFill/>
          <a:ln/>
        </p:spPr>
        <p:txBody>
          <a:bodyPr wrap="square" lIns="0" tIns="0" rIns="0" bIns="0" rtlCol="0" anchor="ctr"/>
          <a:lstStyle/>
          <a:p>
            <a:pPr indent="0" marL="0">
              <a:buNone/>
            </a:pPr>
            <a:r>
              <a:rPr lang="en-US" sz="1050" dirty="0">
                <a:solidFill>
                  <a:srgbClr val="5C6B73"/>
                </a:solidFill>
              </a:rPr>
              <a:t>SQLAlchemy persists enum names; the migration used values. Fixed with values_callable.</a:t>
            </a:r>
            <a:endParaRPr lang="en-US" sz="1050" dirty="0"/>
          </a:p>
        </p:txBody>
      </p:sp>
      <p:sp>
        <p:nvSpPr>
          <p:cNvPr id="15" name="bug2"/>
          <p:cNvSpPr/>
          <p:nvPr/>
        </p:nvSpPr>
        <p:spPr>
          <a:xfrm>
            <a:off x="640080" y="2743200"/>
            <a:ext cx="5303520" cy="1280160"/>
          </a:xfrm>
          <a:prstGeom prst="roundRect">
            <a:avLst>
              <a:gd name="adj" fmla="val 5714"/>
            </a:avLst>
          </a:prstGeom>
          <a:solidFill>
            <a:srgbClr val="F1F7F7"/>
          </a:solidFill>
          <a:ln w="12700">
            <a:solidFill>
              <a:srgbClr val="F1F7F7"/>
            </a:solidFill>
            <a:prstDash val="solid"/>
          </a:ln>
        </p:spPr>
      </p:sp>
      <p:sp>
        <p:nvSpPr>
          <p:cNvPr id="16" name="Shape 14"/>
          <p:cNvSpPr/>
          <p:nvPr/>
        </p:nvSpPr>
        <p:spPr>
          <a:xfrm>
            <a:off x="841248" y="2944368"/>
            <a:ext cx="365760" cy="365760"/>
          </a:xfrm>
          <a:prstGeom prst="ellipse">
            <a:avLst/>
          </a:prstGeom>
          <a:solidFill>
            <a:srgbClr val="E05263"/>
          </a:solidFill>
          <a:ln w="12700">
            <a:solidFill>
              <a:srgbClr val="E05263"/>
            </a:solidFill>
            <a:prstDash val="solid"/>
          </a:ln>
        </p:spPr>
      </p:sp>
      <p:sp>
        <p:nvSpPr>
          <p:cNvPr id="17" name="Text 15"/>
          <p:cNvSpPr txBox="1"/>
          <p:nvPr/>
        </p:nvSpPr>
        <p:spPr>
          <a:xfrm>
            <a:off x="841248" y="2944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txBox="1"/>
          <p:nvPr/>
        </p:nvSpPr>
        <p:spPr>
          <a:xfrm>
            <a:off x="1325880" y="2898648"/>
            <a:ext cx="4389120" cy="256032"/>
          </a:xfrm>
          <a:prstGeom prst="rect">
            <a:avLst/>
          </a:prstGeom>
          <a:noFill/>
          <a:ln/>
        </p:spPr>
        <p:txBody>
          <a:bodyPr wrap="square" lIns="0" tIns="0" rIns="0" bIns="0" rtlCol="0" anchor="ctr"/>
          <a:lstStyle/>
          <a:p>
            <a:pPr indent="0" marL="0">
              <a:buNone/>
            </a:pPr>
            <a:r>
              <a:rPr lang="en-US" sz="1300" b="1" dirty="0">
                <a:solidFill>
                  <a:schemeClr val="tx1"/>
                </a:solidFill>
              </a:rPr>
              <a:t>Frontend: 17 CVEs</a:t>
            </a:r>
            <a:endParaRPr lang="en-US" sz="1300" dirty="0"/>
          </a:p>
        </p:txBody>
      </p:sp>
      <p:sp>
        <p:nvSpPr>
          <p:cNvPr id="19" name="Text 17"/>
          <p:cNvSpPr txBox="1"/>
          <p:nvPr/>
        </p:nvSpPr>
        <p:spPr>
          <a:xfrm>
            <a:off x="1325880" y="3154680"/>
            <a:ext cx="4480560" cy="237744"/>
          </a:xfrm>
          <a:prstGeom prst="rect">
            <a:avLst/>
          </a:prstGeom>
          <a:noFill/>
          <a:ln/>
        </p:spPr>
        <p:txBody>
          <a:bodyPr wrap="square" lIns="0" tIns="0" rIns="0" bIns="0" rtlCol="0" anchor="ctr"/>
          <a:lstStyle/>
          <a:p>
            <a:pPr indent="0" marL="0">
              <a:buNone/>
            </a:pPr>
            <a:r>
              <a:rPr lang="en-US" sz="1000" dirty="0">
                <a:solidFill>
                  <a:srgbClr val="E05263"/>
                </a:solidFill>
                <a:latin typeface="Courier New" pitchFamily="34" charset="0"/>
                <a:ea typeface="Courier New" pitchFamily="34" charset="-122"/>
                <a:cs typeface="Courier New" pitchFamily="34" charset="-120"/>
              </a:rPr>
              <a:t>stale base image layer</a:t>
            </a:r>
            <a:endParaRPr lang="en-US" sz="1000" dirty="0"/>
          </a:p>
        </p:txBody>
      </p:sp>
      <p:sp>
        <p:nvSpPr>
          <p:cNvPr id="20" name="Text 18"/>
          <p:cNvSpPr txBox="1"/>
          <p:nvPr/>
        </p:nvSpPr>
        <p:spPr>
          <a:xfrm>
            <a:off x="914400" y="3419856"/>
            <a:ext cx="4846320" cy="502920"/>
          </a:xfrm>
          <a:prstGeom prst="rect">
            <a:avLst/>
          </a:prstGeom>
          <a:noFill/>
          <a:ln/>
        </p:spPr>
        <p:txBody>
          <a:bodyPr wrap="square" lIns="0" tIns="0" rIns="0" bIns="0" rtlCol="0" anchor="ctr"/>
          <a:lstStyle/>
          <a:p>
            <a:pPr indent="0" marL="0">
              <a:buNone/>
            </a:pPr>
            <a:r>
              <a:rPr lang="en-US" sz="1050" dirty="0">
                <a:solidFill>
                  <a:srgbClr val="5C6B73"/>
                </a:solidFill>
              </a:rPr>
              <a:t>apk upgrade ran against a cached index. Rebuilt with --pull --no-cache.</a:t>
            </a:r>
            <a:endParaRPr lang="en-US" sz="1050" dirty="0"/>
          </a:p>
        </p:txBody>
      </p:sp>
      <p:sp>
        <p:nvSpPr>
          <p:cNvPr id="21" name="bug3"/>
          <p:cNvSpPr/>
          <p:nvPr/>
        </p:nvSpPr>
        <p:spPr>
          <a:xfrm>
            <a:off x="6217920" y="2743200"/>
            <a:ext cx="5303520" cy="1280160"/>
          </a:xfrm>
          <a:prstGeom prst="roundRect">
            <a:avLst>
              <a:gd name="adj" fmla="val 5714"/>
            </a:avLst>
          </a:prstGeom>
          <a:solidFill>
            <a:srgbClr val="F1F7F7"/>
          </a:solidFill>
          <a:ln w="12700">
            <a:solidFill>
              <a:srgbClr val="F1F7F7"/>
            </a:solidFill>
            <a:prstDash val="solid"/>
          </a:ln>
        </p:spPr>
      </p:sp>
      <p:sp>
        <p:nvSpPr>
          <p:cNvPr id="22" name="Shape 20"/>
          <p:cNvSpPr/>
          <p:nvPr/>
        </p:nvSpPr>
        <p:spPr>
          <a:xfrm>
            <a:off x="6419088" y="2944368"/>
            <a:ext cx="365760" cy="365760"/>
          </a:xfrm>
          <a:prstGeom prst="ellipse">
            <a:avLst/>
          </a:prstGeom>
          <a:solidFill>
            <a:srgbClr val="E05263"/>
          </a:solidFill>
          <a:ln w="12700">
            <a:solidFill>
              <a:srgbClr val="E05263"/>
            </a:solidFill>
            <a:prstDash val="solid"/>
          </a:ln>
        </p:spPr>
      </p:sp>
      <p:sp>
        <p:nvSpPr>
          <p:cNvPr id="23" name="Text 21"/>
          <p:cNvSpPr txBox="1"/>
          <p:nvPr/>
        </p:nvSpPr>
        <p:spPr>
          <a:xfrm>
            <a:off x="6419088" y="2944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txBox="1"/>
          <p:nvPr/>
        </p:nvSpPr>
        <p:spPr>
          <a:xfrm>
            <a:off x="6903720" y="2898648"/>
            <a:ext cx="4389120" cy="256032"/>
          </a:xfrm>
          <a:prstGeom prst="rect">
            <a:avLst/>
          </a:prstGeom>
          <a:noFill/>
          <a:ln/>
        </p:spPr>
        <p:txBody>
          <a:bodyPr wrap="square" lIns="0" tIns="0" rIns="0" bIns="0" rtlCol="0" anchor="ctr"/>
          <a:lstStyle/>
          <a:p>
            <a:pPr indent="0" marL="0">
              <a:buNone/>
            </a:pPr>
            <a:r>
              <a:rPr lang="en-US" sz="1300" b="1" dirty="0">
                <a:solidFill>
                  <a:schemeClr val="tx1"/>
                </a:solidFill>
              </a:rPr>
              <a:t>Trivy vs pip list</a:t>
            </a:r>
            <a:endParaRPr lang="en-US" sz="1300" dirty="0"/>
          </a:p>
        </p:txBody>
      </p:sp>
      <p:sp>
        <p:nvSpPr>
          <p:cNvPr id="25" name="Text 23"/>
          <p:cNvSpPr txBox="1"/>
          <p:nvPr/>
        </p:nvSpPr>
        <p:spPr>
          <a:xfrm>
            <a:off x="6903720" y="3154680"/>
            <a:ext cx="4480560" cy="237744"/>
          </a:xfrm>
          <a:prstGeom prst="rect">
            <a:avLst/>
          </a:prstGeom>
          <a:noFill/>
          <a:ln/>
        </p:spPr>
        <p:txBody>
          <a:bodyPr wrap="square" lIns="0" tIns="0" rIns="0" bIns="0" rtlCol="0" anchor="ctr"/>
          <a:lstStyle/>
          <a:p>
            <a:pPr indent="0" marL="0">
              <a:buNone/>
            </a:pPr>
            <a:r>
              <a:rPr lang="en-US" sz="1000" dirty="0">
                <a:solidFill>
                  <a:srgbClr val="E05263"/>
                </a:solidFill>
                <a:latin typeface="Courier New" pitchFamily="34" charset="0"/>
                <a:ea typeface="Courier New" pitchFamily="34" charset="-122"/>
                <a:cs typeface="Courier New" pitchFamily="34" charset="-120"/>
              </a:rPr>
              <a:t>CVEs for versions not installed</a:t>
            </a:r>
            <a:endParaRPr lang="en-US" sz="1000" dirty="0"/>
          </a:p>
        </p:txBody>
      </p:sp>
      <p:sp>
        <p:nvSpPr>
          <p:cNvPr id="26" name="Text 24"/>
          <p:cNvSpPr txBox="1"/>
          <p:nvPr/>
        </p:nvSpPr>
        <p:spPr>
          <a:xfrm>
            <a:off x="6492240" y="3419856"/>
            <a:ext cx="4846320" cy="502920"/>
          </a:xfrm>
          <a:prstGeom prst="rect">
            <a:avLst/>
          </a:prstGeom>
          <a:noFill/>
          <a:ln/>
        </p:spPr>
        <p:txBody>
          <a:bodyPr wrap="square" lIns="0" tIns="0" rIns="0" bIns="0" rtlCol="0" anchor="ctr"/>
          <a:lstStyle/>
          <a:p>
            <a:pPr indent="0" marL="0">
              <a:buNone/>
            </a:pPr>
            <a:r>
              <a:rPr lang="en-US" sz="1050" dirty="0">
                <a:solidFill>
                  <a:srgbClr val="5C6B73"/>
                </a:solidFill>
              </a:rPr>
              <a:t>Stale wheels in a whited-out layer, plus pip/_vendor/vendor.txt. Removed pip from the runtime.</a:t>
            </a:r>
            <a:endParaRPr lang="en-US" sz="1050" dirty="0"/>
          </a:p>
        </p:txBody>
      </p:sp>
      <p:sp>
        <p:nvSpPr>
          <p:cNvPr id="27" name="bug4"/>
          <p:cNvSpPr/>
          <p:nvPr/>
        </p:nvSpPr>
        <p:spPr>
          <a:xfrm>
            <a:off x="640080" y="4206240"/>
            <a:ext cx="5303520" cy="1280160"/>
          </a:xfrm>
          <a:prstGeom prst="roundRect">
            <a:avLst>
              <a:gd name="adj" fmla="val 5714"/>
            </a:avLst>
          </a:prstGeom>
          <a:solidFill>
            <a:srgbClr val="F1F7F7"/>
          </a:solidFill>
          <a:ln w="12700">
            <a:solidFill>
              <a:srgbClr val="F1F7F7"/>
            </a:solidFill>
            <a:prstDash val="solid"/>
          </a:ln>
        </p:spPr>
      </p:sp>
      <p:sp>
        <p:nvSpPr>
          <p:cNvPr id="28" name="Shape 26"/>
          <p:cNvSpPr/>
          <p:nvPr/>
        </p:nvSpPr>
        <p:spPr>
          <a:xfrm>
            <a:off x="841248" y="4407408"/>
            <a:ext cx="365760" cy="365760"/>
          </a:xfrm>
          <a:prstGeom prst="ellipse">
            <a:avLst/>
          </a:prstGeom>
          <a:solidFill>
            <a:srgbClr val="E05263"/>
          </a:solidFill>
          <a:ln w="12700">
            <a:solidFill>
              <a:srgbClr val="E05263"/>
            </a:solidFill>
            <a:prstDash val="solid"/>
          </a:ln>
        </p:spPr>
      </p:sp>
      <p:sp>
        <p:nvSpPr>
          <p:cNvPr id="29" name="Text 27"/>
          <p:cNvSpPr txBox="1"/>
          <p:nvPr/>
        </p:nvSpPr>
        <p:spPr>
          <a:xfrm>
            <a:off x="841248" y="4407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0" name="Text 28"/>
          <p:cNvSpPr txBox="1"/>
          <p:nvPr/>
        </p:nvSpPr>
        <p:spPr>
          <a:xfrm>
            <a:off x="1325880" y="4361688"/>
            <a:ext cx="4389120" cy="256032"/>
          </a:xfrm>
          <a:prstGeom prst="rect">
            <a:avLst/>
          </a:prstGeom>
          <a:noFill/>
          <a:ln/>
        </p:spPr>
        <p:txBody>
          <a:bodyPr wrap="square" lIns="0" tIns="0" rIns="0" bIns="0" rtlCol="0" anchor="ctr"/>
          <a:lstStyle/>
          <a:p>
            <a:pPr indent="0" marL="0">
              <a:buNone/>
            </a:pPr>
            <a:r>
              <a:rPr lang="en-US" sz="1300" b="1" dirty="0">
                <a:solidFill>
                  <a:schemeClr val="tx1"/>
                </a:solidFill>
              </a:rPr>
              <a:t>Postgres Pending</a:t>
            </a:r>
            <a:endParaRPr lang="en-US" sz="1300" dirty="0"/>
          </a:p>
        </p:txBody>
      </p:sp>
      <p:sp>
        <p:nvSpPr>
          <p:cNvPr id="31" name="Text 29"/>
          <p:cNvSpPr txBox="1"/>
          <p:nvPr/>
        </p:nvSpPr>
        <p:spPr>
          <a:xfrm>
            <a:off x="1325880" y="4617720"/>
            <a:ext cx="4480560" cy="237744"/>
          </a:xfrm>
          <a:prstGeom prst="rect">
            <a:avLst/>
          </a:prstGeom>
          <a:noFill/>
          <a:ln/>
        </p:spPr>
        <p:txBody>
          <a:bodyPr wrap="square" lIns="0" tIns="0" rIns="0" bIns="0" rtlCol="0" anchor="ctr"/>
          <a:lstStyle/>
          <a:p>
            <a:pPr indent="0" marL="0">
              <a:buNone/>
            </a:pPr>
            <a:r>
              <a:rPr lang="en-US" sz="1000" dirty="0">
                <a:solidFill>
                  <a:srgbClr val="E05263"/>
                </a:solidFill>
                <a:latin typeface="Courier New" pitchFamily="34" charset="0"/>
                <a:ea typeface="Courier New" pitchFamily="34" charset="-122"/>
                <a:cs typeface="Courier New" pitchFamily="34" charset="-120"/>
              </a:rPr>
              <a:t>unbound PersistentVolumeClaim</a:t>
            </a:r>
            <a:endParaRPr lang="en-US" sz="1000" dirty="0"/>
          </a:p>
        </p:txBody>
      </p:sp>
      <p:sp>
        <p:nvSpPr>
          <p:cNvPr id="32" name="Text 30"/>
          <p:cNvSpPr txBox="1"/>
          <p:nvPr/>
        </p:nvSpPr>
        <p:spPr>
          <a:xfrm>
            <a:off x="914400" y="4882896"/>
            <a:ext cx="4846320" cy="502920"/>
          </a:xfrm>
          <a:prstGeom prst="rect">
            <a:avLst/>
          </a:prstGeom>
          <a:noFill/>
          <a:ln/>
        </p:spPr>
        <p:txBody>
          <a:bodyPr wrap="square" lIns="0" tIns="0" rIns="0" bIns="0" rtlCol="0" anchor="ctr"/>
          <a:lstStyle/>
          <a:p>
            <a:pPr indent="0" marL="0">
              <a:buNone/>
            </a:pPr>
            <a:r>
              <a:rPr lang="en-US" sz="1050" dirty="0">
                <a:solidFill>
                  <a:srgbClr val="5C6B73"/>
                </a:solidFill>
              </a:rPr>
              <a:t>EKS 1.31 ships gp2 on the removed in-tree provisioner. Made persistence a chart value.</a:t>
            </a:r>
            <a:endParaRPr lang="en-US" sz="1050" dirty="0"/>
          </a:p>
        </p:txBody>
      </p:sp>
      <p:sp>
        <p:nvSpPr>
          <p:cNvPr id="33" name="bug5"/>
          <p:cNvSpPr/>
          <p:nvPr/>
        </p:nvSpPr>
        <p:spPr>
          <a:xfrm>
            <a:off x="6217920" y="4206240"/>
            <a:ext cx="5303520" cy="1280160"/>
          </a:xfrm>
          <a:prstGeom prst="roundRect">
            <a:avLst>
              <a:gd name="adj" fmla="val 5714"/>
            </a:avLst>
          </a:prstGeom>
          <a:solidFill>
            <a:srgbClr val="F1F7F7"/>
          </a:solidFill>
          <a:ln w="12700">
            <a:solidFill>
              <a:srgbClr val="F1F7F7"/>
            </a:solidFill>
            <a:prstDash val="solid"/>
          </a:ln>
        </p:spPr>
      </p:sp>
      <p:sp>
        <p:nvSpPr>
          <p:cNvPr id="34" name="Shape 32"/>
          <p:cNvSpPr/>
          <p:nvPr/>
        </p:nvSpPr>
        <p:spPr>
          <a:xfrm>
            <a:off x="6419088" y="4407408"/>
            <a:ext cx="365760" cy="365760"/>
          </a:xfrm>
          <a:prstGeom prst="ellipse">
            <a:avLst/>
          </a:prstGeom>
          <a:solidFill>
            <a:srgbClr val="E05263"/>
          </a:solidFill>
          <a:ln w="12700">
            <a:solidFill>
              <a:srgbClr val="E05263"/>
            </a:solidFill>
            <a:prstDash val="solid"/>
          </a:ln>
        </p:spPr>
      </p:sp>
      <p:sp>
        <p:nvSpPr>
          <p:cNvPr id="35" name="Text 33"/>
          <p:cNvSpPr txBox="1"/>
          <p:nvPr/>
        </p:nvSpPr>
        <p:spPr>
          <a:xfrm>
            <a:off x="6419088" y="4407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6" name="Text 34"/>
          <p:cNvSpPr txBox="1"/>
          <p:nvPr/>
        </p:nvSpPr>
        <p:spPr>
          <a:xfrm>
            <a:off x="6903720" y="4361688"/>
            <a:ext cx="4389120" cy="256032"/>
          </a:xfrm>
          <a:prstGeom prst="rect">
            <a:avLst/>
          </a:prstGeom>
          <a:noFill/>
          <a:ln/>
        </p:spPr>
        <p:txBody>
          <a:bodyPr wrap="square" lIns="0" tIns="0" rIns="0" bIns="0" rtlCol="0" anchor="ctr"/>
          <a:lstStyle/>
          <a:p>
            <a:pPr indent="0" marL="0">
              <a:buNone/>
            </a:pPr>
            <a:r>
              <a:rPr lang="en-US" sz="1300" b="1" dirty="0">
                <a:solidFill>
                  <a:schemeClr val="tx1"/>
                </a:solidFill>
              </a:rPr>
              <a:t>Ingress 404 on /api</a:t>
            </a:r>
            <a:endParaRPr lang="en-US" sz="1300" dirty="0"/>
          </a:p>
        </p:txBody>
      </p:sp>
      <p:sp>
        <p:nvSpPr>
          <p:cNvPr id="37" name="Text 35"/>
          <p:cNvSpPr txBox="1"/>
          <p:nvPr/>
        </p:nvSpPr>
        <p:spPr>
          <a:xfrm>
            <a:off x="6903720" y="4617720"/>
            <a:ext cx="4480560" cy="237744"/>
          </a:xfrm>
          <a:prstGeom prst="rect">
            <a:avLst/>
          </a:prstGeom>
          <a:noFill/>
          <a:ln/>
        </p:spPr>
        <p:txBody>
          <a:bodyPr wrap="square" lIns="0" tIns="0" rIns="0" bIns="0" rtlCol="0" anchor="ctr"/>
          <a:lstStyle/>
          <a:p>
            <a:pPr indent="0" marL="0">
              <a:buNone/>
            </a:pPr>
            <a:r>
              <a:rPr lang="en-US" sz="1000" dirty="0">
                <a:solidFill>
                  <a:srgbClr val="E05263"/>
                </a:solidFill>
                <a:latin typeface="Courier New" pitchFamily="34" charset="0"/>
                <a:ea typeface="Courier New" pitchFamily="34" charset="-122"/>
                <a:cs typeface="Courier New" pitchFamily="34" charset="-120"/>
              </a:rPr>
              <a:t>rewrite-target stripped the prefix</a:t>
            </a:r>
            <a:endParaRPr lang="en-US" sz="1000" dirty="0"/>
          </a:p>
        </p:txBody>
      </p:sp>
      <p:sp>
        <p:nvSpPr>
          <p:cNvPr id="38" name="Text 36"/>
          <p:cNvSpPr txBox="1"/>
          <p:nvPr/>
        </p:nvSpPr>
        <p:spPr>
          <a:xfrm>
            <a:off x="6492240" y="4882896"/>
            <a:ext cx="4846320" cy="502920"/>
          </a:xfrm>
          <a:prstGeom prst="rect">
            <a:avLst/>
          </a:prstGeom>
          <a:noFill/>
          <a:ln/>
        </p:spPr>
        <p:txBody>
          <a:bodyPr wrap="square" lIns="0" tIns="0" rIns="0" bIns="0" rtlCol="0" anchor="ctr"/>
          <a:lstStyle/>
          <a:p>
            <a:pPr indent="0" marL="0">
              <a:buNone/>
            </a:pPr>
            <a:r>
              <a:rPr lang="en-US" sz="1050" dirty="0">
                <a:solidFill>
                  <a:srgbClr val="5C6B73"/>
                </a:solidFill>
              </a:rPr>
              <a:t>Routes are registered at /api/..., so the prefix must survive. Removed the rewrite.</a:t>
            </a:r>
            <a:endParaRPr lang="en-US" sz="105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bg1"/>
                </a:solidFill>
              </a:rPr>
              <a:t>The one that took real digging</a:t>
            </a:r>
            <a:endParaRPr lang="en-US" sz="3400" dirty="0"/>
          </a:p>
        </p:txBody>
      </p:sp>
      <p:sp>
        <p:nvSpPr>
          <p:cNvPr id="3" name="Text 1"/>
          <p:cNvSpPr txBox="1"/>
          <p:nvPr/>
        </p:nvSpPr>
        <p:spPr>
          <a:xfrm>
            <a:off x="640080" y="1234440"/>
            <a:ext cx="10881360" cy="320040"/>
          </a:xfrm>
          <a:prstGeom prst="rect">
            <a:avLst/>
          </a:prstGeom>
          <a:noFill/>
          <a:ln/>
        </p:spPr>
        <p:txBody>
          <a:bodyPr wrap="square" lIns="0" tIns="0" rIns="0" bIns="0" rtlCol="0" anchor="ctr"/>
          <a:lstStyle/>
          <a:p>
            <a:pPr indent="0" marL="0">
              <a:buNone/>
            </a:pPr>
            <a:r>
              <a:rPr lang="en-US" sz="1500" i="1" dirty="0">
                <a:solidFill>
                  <a:srgbClr val="02C39A"/>
                </a:solidFill>
              </a:rPr>
              <a:t>Trivy kept failing the build on CVEs for package versions the image did not contain</a:t>
            </a:r>
            <a:endParaRPr lang="en-US" sz="1500" dirty="0"/>
          </a:p>
        </p:txBody>
      </p:sp>
      <p:sp>
        <p:nvSpPr>
          <p:cNvPr id="4" name="claim"/>
          <p:cNvSpPr/>
          <p:nvPr/>
        </p:nvSpPr>
        <p:spPr>
          <a:xfrm>
            <a:off x="640080" y="1783080"/>
            <a:ext cx="5303520" cy="1417320"/>
          </a:xfrm>
          <a:prstGeom prst="roundRect">
            <a:avLst>
              <a:gd name="adj" fmla="val 5161"/>
            </a:avLst>
          </a:prstGeom>
          <a:solidFill>
            <a:srgbClr val="13343B"/>
          </a:solidFill>
          <a:ln w="12700">
            <a:solidFill>
              <a:srgbClr val="13343B"/>
            </a:solidFill>
            <a:prstDash val="solid"/>
          </a:ln>
        </p:spPr>
      </p:sp>
      <p:sp>
        <p:nvSpPr>
          <p:cNvPr id="5" name="Text 3"/>
          <p:cNvSpPr txBox="1"/>
          <p:nvPr/>
        </p:nvSpPr>
        <p:spPr>
          <a:xfrm>
            <a:off x="914400" y="1965960"/>
            <a:ext cx="4572000" cy="274320"/>
          </a:xfrm>
          <a:prstGeom prst="rect">
            <a:avLst/>
          </a:prstGeom>
          <a:noFill/>
          <a:ln/>
        </p:spPr>
        <p:txBody>
          <a:bodyPr wrap="square" lIns="0" tIns="0" rIns="0" bIns="0" rtlCol="0" anchor="ctr"/>
          <a:lstStyle/>
          <a:p>
            <a:pPr indent="0" marL="0">
              <a:buNone/>
            </a:pPr>
            <a:r>
              <a:rPr lang="en-US" sz="1200" b="1" dirty="0">
                <a:solidFill>
                  <a:srgbClr val="E05263"/>
                </a:solidFill>
              </a:rPr>
              <a:t>Trivy said</a:t>
            </a:r>
            <a:endParaRPr lang="en-US" sz="1200" dirty="0"/>
          </a:p>
        </p:txBody>
      </p:sp>
      <p:sp>
        <p:nvSpPr>
          <p:cNvPr id="6" name="Text 4"/>
          <p:cNvSpPr txBox="1"/>
          <p:nvPr/>
        </p:nvSpPr>
        <p:spPr>
          <a:xfrm>
            <a:off x="914400" y="2286000"/>
            <a:ext cx="4754880" cy="731520"/>
          </a:xfrm>
          <a:prstGeom prst="rect">
            <a:avLst/>
          </a:prstGeom>
          <a:noFill/>
          <a:ln/>
        </p:spPr>
        <p:txBody>
          <a:bodyPr wrap="square" lIns="0" tIns="0" rIns="0" bIns="0" rtlCol="0" anchor="ctr"/>
          <a:lstStyle/>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urllib3 2.7.0   ·   certifi 2026.6.17</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msgpack 1.1.2   ·   setuptools 70.3.0</a:t>
            </a:r>
            <a:endParaRPr lang="en-US" sz="1200" dirty="0"/>
          </a:p>
        </p:txBody>
      </p:sp>
      <p:sp>
        <p:nvSpPr>
          <p:cNvPr id="7" name="truth"/>
          <p:cNvSpPr/>
          <p:nvPr/>
        </p:nvSpPr>
        <p:spPr>
          <a:xfrm>
            <a:off x="6309360" y="1783080"/>
            <a:ext cx="5212080" cy="1417320"/>
          </a:xfrm>
          <a:prstGeom prst="roundRect">
            <a:avLst>
              <a:gd name="adj" fmla="val 5161"/>
            </a:avLst>
          </a:prstGeom>
          <a:solidFill>
            <a:srgbClr val="13343B"/>
          </a:solidFill>
          <a:ln w="12700">
            <a:solidFill>
              <a:srgbClr val="13343B"/>
            </a:solidFill>
            <a:prstDash val="solid"/>
          </a:ln>
        </p:spPr>
      </p:sp>
      <p:sp>
        <p:nvSpPr>
          <p:cNvPr id="8" name="Text 6"/>
          <p:cNvSpPr txBox="1"/>
          <p:nvPr/>
        </p:nvSpPr>
        <p:spPr>
          <a:xfrm>
            <a:off x="6583680" y="1965960"/>
            <a:ext cx="4572000" cy="274320"/>
          </a:xfrm>
          <a:prstGeom prst="rect">
            <a:avLst/>
          </a:prstGeom>
          <a:noFill/>
          <a:ln/>
        </p:spPr>
        <p:txBody>
          <a:bodyPr wrap="square" lIns="0" tIns="0" rIns="0" bIns="0" rtlCol="0" anchor="ctr"/>
          <a:lstStyle/>
          <a:p>
            <a:pPr indent="0" marL="0">
              <a:buNone/>
            </a:pPr>
            <a:r>
              <a:rPr lang="en-US" sz="1200" b="1" dirty="0">
                <a:solidFill>
                  <a:srgbClr val="02C39A"/>
                </a:solidFill>
              </a:rPr>
              <a:t>pip list said</a:t>
            </a:r>
            <a:endParaRPr lang="en-US" sz="1200" dirty="0"/>
          </a:p>
        </p:txBody>
      </p:sp>
      <p:sp>
        <p:nvSpPr>
          <p:cNvPr id="9" name="Text 7"/>
          <p:cNvSpPr txBox="1"/>
          <p:nvPr/>
        </p:nvSpPr>
        <p:spPr>
          <a:xfrm>
            <a:off x="6583680" y="2286000"/>
            <a:ext cx="4663440" cy="731520"/>
          </a:xfrm>
          <a:prstGeom prst="rect">
            <a:avLst/>
          </a:prstGeom>
          <a:noFill/>
          <a:ln/>
        </p:spPr>
        <p:txBody>
          <a:bodyPr wrap="square" lIns="0" tIns="0" rIns="0" bIns="0" rtlCol="0" anchor="ctr"/>
          <a:lstStyle/>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urllib3 2.8.0   ·   certifi 2026.10.19</a:t>
            </a:r>
            <a:endParaRPr lang="en-US" sz="1200" dirty="0"/>
          </a:p>
          <a:p>
            <a:pPr indent="0" marL="0">
              <a:lnSpc>
                <a:spcPts val="1800"/>
              </a:lnSpc>
              <a:buNone/>
            </a:pPr>
            <a:r>
              <a:rPr lang="en-US" sz="1200" dirty="0">
                <a:solidFill>
                  <a:srgbClr val="FFFFFF"/>
                </a:solidFill>
                <a:latin typeface="Courier New" pitchFamily="34" charset="0"/>
                <a:ea typeface="Courier New" pitchFamily="34" charset="-122"/>
                <a:cs typeface="Courier New" pitchFamily="34" charset="-120"/>
              </a:rPr>
              <a:t>msgpack 1.2.3   ·   setuptools 84.2.1</a:t>
            </a:r>
            <a:endParaRPr lang="en-US" sz="1200" dirty="0"/>
          </a:p>
        </p:txBody>
      </p:sp>
      <p:sp>
        <p:nvSpPr>
          <p:cNvPr id="10" name="Text 8"/>
          <p:cNvSpPr txBox="1"/>
          <p:nvPr/>
        </p:nvSpPr>
        <p:spPr>
          <a:xfrm>
            <a:off x="640080" y="3429000"/>
            <a:ext cx="5486400" cy="320040"/>
          </a:xfrm>
          <a:prstGeom prst="rect">
            <a:avLst/>
          </a:prstGeom>
          <a:noFill/>
          <a:ln/>
        </p:spPr>
        <p:txBody>
          <a:bodyPr wrap="square" lIns="0" tIns="0" rIns="0" bIns="0" rtlCol="0" anchor="ctr"/>
          <a:lstStyle/>
          <a:p>
            <a:pPr indent="0" marL="0">
              <a:buNone/>
            </a:pPr>
            <a:r>
              <a:rPr lang="en-US" sz="1500" b="1" dirty="0">
                <a:solidFill>
                  <a:srgbClr val="00A896"/>
                </a:solidFill>
              </a:rPr>
              <a:t>Two causes, stacked</a:t>
            </a:r>
            <a:endParaRPr lang="en-US" sz="1500" dirty="0"/>
          </a:p>
        </p:txBody>
      </p:sp>
      <p:sp>
        <p:nvSpPr>
          <p:cNvPr id="11" name="Shape 9"/>
          <p:cNvSpPr/>
          <p:nvPr/>
        </p:nvSpPr>
        <p:spPr>
          <a:xfrm>
            <a:off x="640080" y="3886200"/>
            <a:ext cx="384048" cy="384048"/>
          </a:xfrm>
          <a:prstGeom prst="ellipse">
            <a:avLst/>
          </a:prstGeom>
          <a:solidFill>
            <a:srgbClr val="F0A202"/>
          </a:solidFill>
          <a:ln w="12700">
            <a:solidFill>
              <a:srgbClr val="F0A202"/>
            </a:solidFill>
            <a:prstDash val="solid"/>
          </a:ln>
        </p:spPr>
      </p:sp>
      <p:sp>
        <p:nvSpPr>
          <p:cNvPr id="12" name="Text 10"/>
          <p:cNvSpPr txBox="1"/>
          <p:nvPr/>
        </p:nvSpPr>
        <p:spPr>
          <a:xfrm>
            <a:off x="64008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11"/>
          <p:cNvSpPr txBox="1"/>
          <p:nvPr/>
        </p:nvSpPr>
        <p:spPr>
          <a:xfrm>
            <a:off x="1234440" y="3867912"/>
            <a:ext cx="2743200" cy="274320"/>
          </a:xfrm>
          <a:prstGeom prst="rect">
            <a:avLst/>
          </a:prstGeom>
          <a:noFill/>
          <a:ln/>
        </p:spPr>
        <p:txBody>
          <a:bodyPr wrap="square" lIns="0" tIns="0" rIns="0" bIns="0" rtlCol="0" anchor="ctr"/>
          <a:lstStyle/>
          <a:p>
            <a:pPr indent="0" marL="0">
              <a:buNone/>
            </a:pPr>
            <a:r>
              <a:rPr lang="en-US" sz="1300" b="1" dirty="0">
                <a:solidFill>
                  <a:srgbClr val="FFFFFF"/>
                </a:solidFill>
              </a:rPr>
              <a:t>Layer history</a:t>
            </a:r>
            <a:endParaRPr lang="en-US" sz="1300" dirty="0"/>
          </a:p>
        </p:txBody>
      </p:sp>
      <p:sp>
        <p:nvSpPr>
          <p:cNvPr id="14" name="Text 12"/>
          <p:cNvSpPr txBox="1"/>
          <p:nvPr/>
        </p:nvSpPr>
        <p:spPr>
          <a:xfrm>
            <a:off x="3931920" y="3867912"/>
            <a:ext cx="7589520" cy="777240"/>
          </a:xfrm>
          <a:prstGeom prst="rect">
            <a:avLst/>
          </a:prstGeom>
          <a:noFill/>
          <a:ln/>
        </p:spPr>
        <p:txBody>
          <a:bodyPr wrap="square" lIns="0" tIns="0" rIns="0" bIns="0" rtlCol="0" anchor="ctr"/>
          <a:lstStyle/>
          <a:p>
            <a:pPr indent="0" marL="0">
              <a:buNone/>
            </a:pPr>
            <a:r>
              <a:rPr lang="en-US" sz="1100" dirty="0">
                <a:solidFill>
                  <a:srgbClr val="C9D6D8"/>
                </a:solidFill>
              </a:rPr>
              <a:t>COPY --from=builder /wheels then rm -rf only whites the files out in a later layer. The superseded wheels stay in the image, and Trivy reads every layer.</a:t>
            </a:r>
            <a:endParaRPr lang="en-US" sz="1100" dirty="0"/>
          </a:p>
        </p:txBody>
      </p:sp>
      <p:sp>
        <p:nvSpPr>
          <p:cNvPr id="15" name="Shape 13"/>
          <p:cNvSpPr/>
          <p:nvPr/>
        </p:nvSpPr>
        <p:spPr>
          <a:xfrm>
            <a:off x="640080" y="4800600"/>
            <a:ext cx="384048" cy="384048"/>
          </a:xfrm>
          <a:prstGeom prst="ellipse">
            <a:avLst/>
          </a:prstGeom>
          <a:solidFill>
            <a:srgbClr val="028090"/>
          </a:solidFill>
          <a:ln w="12700">
            <a:solidFill>
              <a:srgbClr val="028090"/>
            </a:solidFill>
            <a:prstDash val="solid"/>
          </a:ln>
        </p:spPr>
      </p:sp>
      <p:sp>
        <p:nvSpPr>
          <p:cNvPr id="16" name="Text 14"/>
          <p:cNvSpPr txBox="1"/>
          <p:nvPr/>
        </p:nvSpPr>
        <p:spPr>
          <a:xfrm>
            <a:off x="640080" y="4800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5"/>
          <p:cNvSpPr txBox="1"/>
          <p:nvPr/>
        </p:nvSpPr>
        <p:spPr>
          <a:xfrm>
            <a:off x="1234440" y="4782312"/>
            <a:ext cx="2743200" cy="274320"/>
          </a:xfrm>
          <a:prstGeom prst="rect">
            <a:avLst/>
          </a:prstGeom>
          <a:noFill/>
          <a:ln/>
        </p:spPr>
        <p:txBody>
          <a:bodyPr wrap="square" lIns="0" tIns="0" rIns="0" bIns="0" rtlCol="0" anchor="ctr"/>
          <a:lstStyle/>
          <a:p>
            <a:pPr indent="0" marL="0">
              <a:buNone/>
            </a:pPr>
            <a:r>
              <a:rPr lang="en-US" sz="1300" b="1" dirty="0">
                <a:solidFill>
                  <a:srgbClr val="FFFFFF"/>
                </a:solidFill>
              </a:rPr>
              <a:t>pip's own bundle</a:t>
            </a:r>
            <a:endParaRPr lang="en-US" sz="1300" dirty="0"/>
          </a:p>
        </p:txBody>
      </p:sp>
      <p:sp>
        <p:nvSpPr>
          <p:cNvPr id="18" name="Text 16"/>
          <p:cNvSpPr txBox="1"/>
          <p:nvPr/>
        </p:nvSpPr>
        <p:spPr>
          <a:xfrm>
            <a:off x="3931920" y="4782312"/>
            <a:ext cx="7589520" cy="777240"/>
          </a:xfrm>
          <a:prstGeom prst="rect">
            <a:avLst/>
          </a:prstGeom>
          <a:noFill/>
          <a:ln/>
        </p:spPr>
        <p:txBody>
          <a:bodyPr wrap="square" lIns="0" tIns="0" rIns="0" bIns="0" rtlCol="0" anchor="ctr"/>
          <a:lstStyle/>
          <a:p>
            <a:pPr indent="0" marL="0">
              <a:buNone/>
            </a:pPr>
            <a:r>
              <a:rPr lang="en-US" sz="1100" dirty="0">
                <a:solidFill>
                  <a:srgbClr val="C9D6D8"/>
                </a:solidFill>
              </a:rPr>
              <a:t>pip/_vendor/vendor.txt literally declares urllib3==2.7.0. Trivy parses it. Those copies are used only by pip and never imported by the app.</a:t>
            </a:r>
            <a:endParaRPr lang="en-US" sz="1100" dirty="0"/>
          </a:p>
        </p:txBody>
      </p:sp>
      <p:sp>
        <p:nvSpPr>
          <p:cNvPr id="19" name="Text 17"/>
          <p:cNvSpPr txBox="1"/>
          <p:nvPr/>
        </p:nvSpPr>
        <p:spPr>
          <a:xfrm>
            <a:off x="640080" y="5760720"/>
            <a:ext cx="10881360" cy="365760"/>
          </a:xfrm>
          <a:prstGeom prst="rect">
            <a:avLst/>
          </a:prstGeom>
          <a:noFill/>
          <a:ln/>
        </p:spPr>
        <p:txBody>
          <a:bodyPr wrap="square" lIns="0" tIns="0" rIns="0" bIns="0" rtlCol="0" anchor="ctr"/>
          <a:lstStyle/>
          <a:p>
            <a:pPr indent="0" marL="0">
              <a:buNone/>
            </a:pPr>
            <a:r>
              <a:rPr lang="en-US" sz="1200" b="1" i="1" dirty="0">
                <a:solidFill>
                  <a:srgbClr val="02C39A"/>
                </a:solidFill>
              </a:rPr>
              <a:t>Fix: drop the wheel stage, and remove pip from the runtime image once dependencies are installed - which also takes a package manager out of production.</a:t>
            </a:r>
            <a:endParaRPr lang="en-US" sz="12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bg1"/>
                </a:solidFill>
              </a:rPr>
              <a:t>Evidence</a:t>
            </a:r>
            <a:endParaRPr lang="en-US" sz="3400" dirty="0"/>
          </a:p>
        </p:txBody>
      </p:sp>
      <p:pic>
        <p:nvPicPr>
          <p:cNvPr id="3" name="Image 0" descr="/Users/lakshayjagga/Desktop/College Stuff/DevOps/session21-devops-capstone-final/screenshots/09-pytest-24-passing.png">    </p:cNvPr>
          <p:cNvPicPr>
            <a:picLocks noChangeAspect="1"/>
          </p:cNvPicPr>
          <p:nvPr/>
        </p:nvPicPr>
        <p:blipFill>
          <a:blip r:embed="rId1"/>
          <a:stretch>
            <a:fillRect/>
          </a:stretch>
        </p:blipFill>
        <p:spPr>
          <a:xfrm>
            <a:off x="640080" y="1234440"/>
            <a:ext cx="3429000" cy="3364992"/>
          </a:xfrm>
          <a:prstGeom prst="rect">
            <a:avLst/>
          </a:prstGeom>
        </p:spPr>
      </p:pic>
      <p:sp>
        <p:nvSpPr>
          <p:cNvPr id="4" name="Text 1"/>
          <p:cNvSpPr txBox="1"/>
          <p:nvPr/>
        </p:nvSpPr>
        <p:spPr>
          <a:xfrm>
            <a:off x="640080" y="4663440"/>
            <a:ext cx="3429000" cy="274320"/>
          </a:xfrm>
          <a:prstGeom prst="rect">
            <a:avLst/>
          </a:prstGeom>
          <a:noFill/>
          <a:ln/>
        </p:spPr>
        <p:txBody>
          <a:bodyPr wrap="square" lIns="0" tIns="0" rIns="0" bIns="0" rtlCol="0" anchor="ctr"/>
          <a:lstStyle/>
          <a:p>
            <a:pPr indent="0" marL="0">
              <a:buNone/>
            </a:pPr>
            <a:r>
              <a:rPr lang="en-US" sz="1100" dirty="0">
                <a:solidFill>
                  <a:srgbClr val="02C39A"/>
                </a:solidFill>
              </a:rPr>
              <a:t>24 tests, every name listed</a:t>
            </a:r>
            <a:endParaRPr lang="en-US" sz="1100" dirty="0"/>
          </a:p>
        </p:txBody>
      </p:sp>
      <p:pic>
        <p:nvPicPr>
          <p:cNvPr id="5" name="Image 1" descr="/Users/lakshayjagga/Desktop/College Stuff/DevOps/session21-devops-capstone-final/screenshots/16-kubectl-helm-eks.png">    </p:cNvPr>
          <p:cNvPicPr>
            <a:picLocks noChangeAspect="1"/>
          </p:cNvPicPr>
          <p:nvPr/>
        </p:nvPicPr>
        <p:blipFill>
          <a:blip r:embed="rId2"/>
          <a:stretch>
            <a:fillRect/>
          </a:stretch>
        </p:blipFill>
        <p:spPr>
          <a:xfrm>
            <a:off x="4251960" y="1234440"/>
            <a:ext cx="3931920" cy="2532888"/>
          </a:xfrm>
          <a:prstGeom prst="rect">
            <a:avLst/>
          </a:prstGeom>
        </p:spPr>
      </p:pic>
      <p:sp>
        <p:nvSpPr>
          <p:cNvPr id="6" name="Text 2"/>
          <p:cNvSpPr txBox="1"/>
          <p:nvPr/>
        </p:nvSpPr>
        <p:spPr>
          <a:xfrm>
            <a:off x="4251960" y="3840480"/>
            <a:ext cx="3931920" cy="274320"/>
          </a:xfrm>
          <a:prstGeom prst="rect">
            <a:avLst/>
          </a:prstGeom>
          <a:noFill/>
          <a:ln/>
        </p:spPr>
        <p:txBody>
          <a:bodyPr wrap="square" lIns="0" tIns="0" rIns="0" bIns="0" rtlCol="0" anchor="ctr"/>
          <a:lstStyle/>
          <a:p>
            <a:pPr indent="0" marL="0">
              <a:buNone/>
            </a:pPr>
            <a:r>
              <a:rPr lang="en-US" sz="1100" dirty="0">
                <a:solidFill>
                  <a:srgbClr val="02C39A"/>
                </a:solidFill>
              </a:rPr>
              <a:t>Helm release and pods on real EKS</a:t>
            </a:r>
            <a:endParaRPr lang="en-US" sz="1100" dirty="0"/>
          </a:p>
        </p:txBody>
      </p:sp>
      <p:pic>
        <p:nvPicPr>
          <p:cNvPr id="7" name="Image 2" descr="/Users/lakshayjagga/Desktop/College Stuff/DevOps/session21-devops-capstone-final/screenshots/15-terraform-destroy.png">    </p:cNvPr>
          <p:cNvPicPr>
            <a:picLocks noChangeAspect="1"/>
          </p:cNvPicPr>
          <p:nvPr/>
        </p:nvPicPr>
        <p:blipFill>
          <a:blip r:embed="rId3"/>
          <a:stretch>
            <a:fillRect/>
          </a:stretch>
        </p:blipFill>
        <p:spPr>
          <a:xfrm>
            <a:off x="4251960" y="4206240"/>
            <a:ext cx="3931920" cy="1508760"/>
          </a:xfrm>
          <a:prstGeom prst="rect">
            <a:avLst/>
          </a:prstGeom>
        </p:spPr>
      </p:pic>
      <p:sp>
        <p:nvSpPr>
          <p:cNvPr id="8" name="Text 3"/>
          <p:cNvSpPr txBox="1"/>
          <p:nvPr/>
        </p:nvSpPr>
        <p:spPr>
          <a:xfrm>
            <a:off x="4251960" y="5760720"/>
            <a:ext cx="3931920" cy="274320"/>
          </a:xfrm>
          <a:prstGeom prst="rect">
            <a:avLst/>
          </a:prstGeom>
          <a:noFill/>
          <a:ln/>
        </p:spPr>
        <p:txBody>
          <a:bodyPr wrap="square" lIns="0" tIns="0" rIns="0" bIns="0" rtlCol="0" anchor="ctr"/>
          <a:lstStyle/>
          <a:p>
            <a:pPr indent="0" marL="0">
              <a:buNone/>
            </a:pPr>
            <a:r>
              <a:rPr lang="en-US" sz="1100" dirty="0">
                <a:solidFill>
                  <a:srgbClr val="F0A202"/>
                </a:solidFill>
              </a:rPr>
              <a:t>Torn down, nothing left running</a:t>
            </a:r>
            <a:endParaRPr lang="en-US" sz="1100" dirty="0"/>
          </a:p>
        </p:txBody>
      </p:sp>
      <p:pic>
        <p:nvPicPr>
          <p:cNvPr id="9" name="Image 3" descr="/Users/lakshayjagga/Desktop/College Stuff/DevOps/session21-devops-capstone-final/screenshots/07-swagger-api.png">    </p:cNvPr>
          <p:cNvPicPr>
            <a:picLocks noChangeAspect="1"/>
          </p:cNvPicPr>
          <p:nvPr/>
        </p:nvPicPr>
        <p:blipFill>
          <a:blip r:embed="rId4"/>
          <a:stretch>
            <a:fillRect/>
          </a:stretch>
        </p:blipFill>
        <p:spPr>
          <a:xfrm>
            <a:off x="8366760" y="1234440"/>
            <a:ext cx="3154680" cy="3364992"/>
          </a:xfrm>
          <a:prstGeom prst="rect">
            <a:avLst/>
          </a:prstGeom>
        </p:spPr>
      </p:pic>
      <p:sp>
        <p:nvSpPr>
          <p:cNvPr id="10" name="Text 4"/>
          <p:cNvSpPr txBox="1"/>
          <p:nvPr/>
        </p:nvSpPr>
        <p:spPr>
          <a:xfrm>
            <a:off x="8366760" y="4663440"/>
            <a:ext cx="3154680" cy="274320"/>
          </a:xfrm>
          <a:prstGeom prst="rect">
            <a:avLst/>
          </a:prstGeom>
          <a:noFill/>
          <a:ln/>
        </p:spPr>
        <p:txBody>
          <a:bodyPr wrap="square" lIns="0" tIns="0" rIns="0" bIns="0" rtlCol="0" anchor="ctr"/>
          <a:lstStyle/>
          <a:p>
            <a:pPr indent="0" marL="0">
              <a:buNone/>
            </a:pPr>
            <a:r>
              <a:rPr lang="en-US" sz="1100" dirty="0">
                <a:solidFill>
                  <a:srgbClr val="02C39A"/>
                </a:solidFill>
              </a:rPr>
              <a:t>All 11 endpoints</a:t>
            </a:r>
            <a:endParaRPr lang="en-US" sz="1100" dirty="0"/>
          </a:p>
        </p:txBody>
      </p:sp>
      <p:sp>
        <p:nvSpPr>
          <p:cNvPr id="11" name="Text 5"/>
          <p:cNvSpPr txBox="1"/>
          <p:nvPr/>
        </p:nvSpPr>
        <p:spPr>
          <a:xfrm>
            <a:off x="640080" y="5074920"/>
            <a:ext cx="3429000" cy="731520"/>
          </a:xfrm>
          <a:prstGeom prst="rect">
            <a:avLst/>
          </a:prstGeom>
          <a:noFill/>
          <a:ln/>
        </p:spPr>
        <p:txBody>
          <a:bodyPr wrap="square" lIns="0" tIns="0" rIns="0" bIns="0" rtlCol="0" anchor="ctr"/>
          <a:lstStyle/>
          <a:p>
            <a:pPr indent="0" marL="0">
              <a:buNone/>
            </a:pPr>
            <a:r>
              <a:rPr lang="en-US" sz="1000" i="1" dirty="0">
                <a:solidFill>
                  <a:srgbClr val="5C6B73"/>
                </a:solidFill>
              </a:rPr>
              <a:t>Browser shots driven by Playwright against the running app; terminal shots are the exact command output, typeset.</a:t>
            </a:r>
            <a:endParaRPr lang="en-US" sz="10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What was delivered</a:t>
            </a:r>
            <a:endParaRPr lang="en-US" sz="3400" dirty="0"/>
          </a:p>
        </p:txBody>
      </p:sp>
      <p:sp>
        <p:nvSpPr>
          <p:cNvPr id="3" name="mod0"/>
          <p:cNvSpPr/>
          <p:nvPr/>
        </p:nvSpPr>
        <p:spPr>
          <a:xfrm>
            <a:off x="640080" y="1280160"/>
            <a:ext cx="5303520" cy="713232"/>
          </a:xfrm>
          <a:prstGeom prst="roundRect">
            <a:avLst>
              <a:gd name="adj" fmla="val 6410"/>
            </a:avLst>
          </a:prstGeom>
          <a:solidFill>
            <a:srgbClr val="F1F7F7"/>
          </a:solidFill>
          <a:ln w="12700">
            <a:solidFill>
              <a:srgbClr val="F1F7F7"/>
            </a:solidFill>
            <a:prstDash val="solid"/>
          </a:ln>
        </p:spPr>
      </p:sp>
      <p:sp>
        <p:nvSpPr>
          <p:cNvPr id="4" name="Text 2"/>
          <p:cNvSpPr txBox="1"/>
          <p:nvPr/>
        </p:nvSpPr>
        <p:spPr>
          <a:xfrm>
            <a:off x="822960" y="1481328"/>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M1</a:t>
            </a:r>
            <a:endParaRPr lang="en-US" sz="1300" dirty="0"/>
          </a:p>
        </p:txBody>
      </p:sp>
      <p:sp>
        <p:nvSpPr>
          <p:cNvPr id="5" name="Text 3"/>
          <p:cNvSpPr txBox="1"/>
          <p:nvPr/>
        </p:nvSpPr>
        <p:spPr>
          <a:xfrm>
            <a:off x="1417320" y="1481328"/>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Application</a:t>
            </a:r>
            <a:endParaRPr lang="en-US" sz="1300" dirty="0"/>
          </a:p>
        </p:txBody>
      </p:sp>
      <p:sp>
        <p:nvSpPr>
          <p:cNvPr id="6" name="Text 4"/>
          <p:cNvSpPr txBox="1"/>
          <p:nvPr/>
        </p:nvSpPr>
        <p:spPr>
          <a:xfrm>
            <a:off x="3337560" y="1499616"/>
            <a:ext cx="2468880" cy="292608"/>
          </a:xfrm>
          <a:prstGeom prst="rect">
            <a:avLst/>
          </a:prstGeom>
          <a:noFill/>
          <a:ln/>
        </p:spPr>
        <p:txBody>
          <a:bodyPr wrap="square" lIns="0" tIns="0" rIns="0" bIns="0" rtlCol="0" anchor="ctr"/>
          <a:lstStyle/>
          <a:p>
            <a:pPr indent="0" marL="0">
              <a:buNone/>
            </a:pPr>
            <a:r>
              <a:rPr lang="en-US" sz="1100" dirty="0">
                <a:solidFill>
                  <a:srgbClr val="5C6B73"/>
                </a:solidFill>
              </a:rPr>
              <a:t>11 endpoints, 2 tables</a:t>
            </a:r>
            <a:endParaRPr lang="en-US" sz="1100" dirty="0"/>
          </a:p>
        </p:txBody>
      </p:sp>
      <p:sp>
        <p:nvSpPr>
          <p:cNvPr id="7" name="mod1"/>
          <p:cNvSpPr/>
          <p:nvPr/>
        </p:nvSpPr>
        <p:spPr>
          <a:xfrm>
            <a:off x="6217920" y="1280160"/>
            <a:ext cx="5303520" cy="713232"/>
          </a:xfrm>
          <a:prstGeom prst="roundRect">
            <a:avLst>
              <a:gd name="adj" fmla="val 6410"/>
            </a:avLst>
          </a:prstGeom>
          <a:solidFill>
            <a:srgbClr val="F1F7F7"/>
          </a:solidFill>
          <a:ln w="12700">
            <a:solidFill>
              <a:srgbClr val="F1F7F7"/>
            </a:solidFill>
            <a:prstDash val="solid"/>
          </a:ln>
        </p:spPr>
      </p:sp>
      <p:sp>
        <p:nvSpPr>
          <p:cNvPr id="8" name="Text 6"/>
          <p:cNvSpPr txBox="1"/>
          <p:nvPr/>
        </p:nvSpPr>
        <p:spPr>
          <a:xfrm>
            <a:off x="6400800" y="1481328"/>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M2</a:t>
            </a:r>
            <a:endParaRPr lang="en-US" sz="1300" dirty="0"/>
          </a:p>
        </p:txBody>
      </p:sp>
      <p:sp>
        <p:nvSpPr>
          <p:cNvPr id="9" name="Text 7"/>
          <p:cNvSpPr txBox="1"/>
          <p:nvPr/>
        </p:nvSpPr>
        <p:spPr>
          <a:xfrm>
            <a:off x="6995160" y="1481328"/>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Testing</a:t>
            </a:r>
            <a:endParaRPr lang="en-US" sz="1300" dirty="0"/>
          </a:p>
        </p:txBody>
      </p:sp>
      <p:sp>
        <p:nvSpPr>
          <p:cNvPr id="10" name="Text 8"/>
          <p:cNvSpPr txBox="1"/>
          <p:nvPr/>
        </p:nvSpPr>
        <p:spPr>
          <a:xfrm>
            <a:off x="8915400" y="1499616"/>
            <a:ext cx="2468880" cy="292608"/>
          </a:xfrm>
          <a:prstGeom prst="rect">
            <a:avLst/>
          </a:prstGeom>
          <a:noFill/>
          <a:ln/>
        </p:spPr>
        <p:txBody>
          <a:bodyPr wrap="square" lIns="0" tIns="0" rIns="0" bIns="0" rtlCol="0" anchor="ctr"/>
          <a:lstStyle/>
          <a:p>
            <a:pPr indent="0" marL="0">
              <a:buNone/>
            </a:pPr>
            <a:r>
              <a:rPr lang="en-US" sz="1100" dirty="0">
                <a:solidFill>
                  <a:srgbClr val="5C6B73"/>
                </a:solidFill>
              </a:rPr>
              <a:t>24 tests passing</a:t>
            </a:r>
            <a:endParaRPr lang="en-US" sz="1100" dirty="0"/>
          </a:p>
        </p:txBody>
      </p:sp>
      <p:sp>
        <p:nvSpPr>
          <p:cNvPr id="11" name="mod2"/>
          <p:cNvSpPr/>
          <p:nvPr/>
        </p:nvSpPr>
        <p:spPr>
          <a:xfrm>
            <a:off x="640080" y="2121408"/>
            <a:ext cx="5303520" cy="713232"/>
          </a:xfrm>
          <a:prstGeom prst="roundRect">
            <a:avLst>
              <a:gd name="adj" fmla="val 6410"/>
            </a:avLst>
          </a:prstGeom>
          <a:solidFill>
            <a:srgbClr val="F1F7F7"/>
          </a:solidFill>
          <a:ln w="12700">
            <a:solidFill>
              <a:srgbClr val="F1F7F7"/>
            </a:solidFill>
            <a:prstDash val="solid"/>
          </a:ln>
        </p:spPr>
      </p:sp>
      <p:sp>
        <p:nvSpPr>
          <p:cNvPr id="12" name="Text 10"/>
          <p:cNvSpPr txBox="1"/>
          <p:nvPr/>
        </p:nvSpPr>
        <p:spPr>
          <a:xfrm>
            <a:off x="822960" y="2322576"/>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M3</a:t>
            </a:r>
            <a:endParaRPr lang="en-US" sz="1300" dirty="0"/>
          </a:p>
        </p:txBody>
      </p:sp>
      <p:sp>
        <p:nvSpPr>
          <p:cNvPr id="13" name="Text 11"/>
          <p:cNvSpPr txBox="1"/>
          <p:nvPr/>
        </p:nvSpPr>
        <p:spPr>
          <a:xfrm>
            <a:off x="1417320" y="2322576"/>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Git</a:t>
            </a:r>
            <a:endParaRPr lang="en-US" sz="1300" dirty="0"/>
          </a:p>
        </p:txBody>
      </p:sp>
      <p:sp>
        <p:nvSpPr>
          <p:cNvPr id="14" name="Text 12"/>
          <p:cNvSpPr txBox="1"/>
          <p:nvPr/>
        </p:nvSpPr>
        <p:spPr>
          <a:xfrm>
            <a:off x="3337560" y="2340864"/>
            <a:ext cx="2468880" cy="292608"/>
          </a:xfrm>
          <a:prstGeom prst="rect">
            <a:avLst/>
          </a:prstGeom>
          <a:noFill/>
          <a:ln/>
        </p:spPr>
        <p:txBody>
          <a:bodyPr wrap="square" lIns="0" tIns="0" rIns="0" bIns="0" rtlCol="0" anchor="ctr"/>
          <a:lstStyle/>
          <a:p>
            <a:pPr indent="0" marL="0">
              <a:buNone/>
            </a:pPr>
            <a:r>
              <a:rPr lang="en-US" sz="1100" dirty="0">
                <a:solidFill>
                  <a:srgbClr val="5C6B73"/>
                </a:solidFill>
              </a:rPr>
              <a:t>public repo, clean ignores</a:t>
            </a:r>
            <a:endParaRPr lang="en-US" sz="1100" dirty="0"/>
          </a:p>
        </p:txBody>
      </p:sp>
      <p:sp>
        <p:nvSpPr>
          <p:cNvPr id="15" name="mod3"/>
          <p:cNvSpPr/>
          <p:nvPr/>
        </p:nvSpPr>
        <p:spPr>
          <a:xfrm>
            <a:off x="6217920" y="2121408"/>
            <a:ext cx="5303520" cy="713232"/>
          </a:xfrm>
          <a:prstGeom prst="roundRect">
            <a:avLst>
              <a:gd name="adj" fmla="val 6410"/>
            </a:avLst>
          </a:prstGeom>
          <a:solidFill>
            <a:srgbClr val="F1F7F7"/>
          </a:solidFill>
          <a:ln w="12700">
            <a:solidFill>
              <a:srgbClr val="F1F7F7"/>
            </a:solidFill>
            <a:prstDash val="solid"/>
          </a:ln>
        </p:spPr>
      </p:sp>
      <p:sp>
        <p:nvSpPr>
          <p:cNvPr id="16" name="Text 14"/>
          <p:cNvSpPr txBox="1"/>
          <p:nvPr/>
        </p:nvSpPr>
        <p:spPr>
          <a:xfrm>
            <a:off x="6400800" y="2322576"/>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M4</a:t>
            </a:r>
            <a:endParaRPr lang="en-US" sz="1300" dirty="0"/>
          </a:p>
        </p:txBody>
      </p:sp>
      <p:sp>
        <p:nvSpPr>
          <p:cNvPr id="17" name="Text 15"/>
          <p:cNvSpPr txBox="1"/>
          <p:nvPr/>
        </p:nvSpPr>
        <p:spPr>
          <a:xfrm>
            <a:off x="6995160" y="2322576"/>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Docker</a:t>
            </a:r>
            <a:endParaRPr lang="en-US" sz="1300" dirty="0"/>
          </a:p>
        </p:txBody>
      </p:sp>
      <p:sp>
        <p:nvSpPr>
          <p:cNvPr id="18" name="Text 16"/>
          <p:cNvSpPr txBox="1"/>
          <p:nvPr/>
        </p:nvSpPr>
        <p:spPr>
          <a:xfrm>
            <a:off x="8915400" y="2340864"/>
            <a:ext cx="2468880" cy="292608"/>
          </a:xfrm>
          <a:prstGeom prst="rect">
            <a:avLst/>
          </a:prstGeom>
          <a:noFill/>
          <a:ln/>
        </p:spPr>
        <p:txBody>
          <a:bodyPr wrap="square" lIns="0" tIns="0" rIns="0" bIns="0" rtlCol="0" anchor="ctr"/>
          <a:lstStyle/>
          <a:p>
            <a:pPr indent="0" marL="0">
              <a:buNone/>
            </a:pPr>
            <a:r>
              <a:rPr lang="en-US" sz="1100" dirty="0">
                <a:solidFill>
                  <a:srgbClr val="5C6B73"/>
                </a:solidFill>
              </a:rPr>
              <a:t>2 images, healthcheck-gated</a:t>
            </a:r>
            <a:endParaRPr lang="en-US" sz="1100" dirty="0"/>
          </a:p>
        </p:txBody>
      </p:sp>
      <p:sp>
        <p:nvSpPr>
          <p:cNvPr id="19" name="mod4"/>
          <p:cNvSpPr/>
          <p:nvPr/>
        </p:nvSpPr>
        <p:spPr>
          <a:xfrm>
            <a:off x="640080" y="2962656"/>
            <a:ext cx="5303520" cy="713232"/>
          </a:xfrm>
          <a:prstGeom prst="roundRect">
            <a:avLst>
              <a:gd name="adj" fmla="val 6410"/>
            </a:avLst>
          </a:prstGeom>
          <a:solidFill>
            <a:srgbClr val="F1F7F7"/>
          </a:solidFill>
          <a:ln w="12700">
            <a:solidFill>
              <a:srgbClr val="F1F7F7"/>
            </a:solidFill>
            <a:prstDash val="solid"/>
          </a:ln>
        </p:spPr>
      </p:sp>
      <p:sp>
        <p:nvSpPr>
          <p:cNvPr id="20" name="Text 18"/>
          <p:cNvSpPr txBox="1"/>
          <p:nvPr/>
        </p:nvSpPr>
        <p:spPr>
          <a:xfrm>
            <a:off x="822960" y="3163824"/>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M5</a:t>
            </a:r>
            <a:endParaRPr lang="en-US" sz="1300" dirty="0"/>
          </a:p>
        </p:txBody>
      </p:sp>
      <p:sp>
        <p:nvSpPr>
          <p:cNvPr id="21" name="Text 19"/>
          <p:cNvSpPr txBox="1"/>
          <p:nvPr/>
        </p:nvSpPr>
        <p:spPr>
          <a:xfrm>
            <a:off x="1417320" y="3163824"/>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CI/CD</a:t>
            </a:r>
            <a:endParaRPr lang="en-US" sz="1300" dirty="0"/>
          </a:p>
        </p:txBody>
      </p:sp>
      <p:sp>
        <p:nvSpPr>
          <p:cNvPr id="22" name="Text 20"/>
          <p:cNvSpPr txBox="1"/>
          <p:nvPr/>
        </p:nvSpPr>
        <p:spPr>
          <a:xfrm>
            <a:off x="3337560" y="3182112"/>
            <a:ext cx="2468880" cy="292608"/>
          </a:xfrm>
          <a:prstGeom prst="rect">
            <a:avLst/>
          </a:prstGeom>
          <a:noFill/>
          <a:ln/>
        </p:spPr>
        <p:txBody>
          <a:bodyPr wrap="square" lIns="0" tIns="0" rIns="0" bIns="0" rtlCol="0" anchor="ctr"/>
          <a:lstStyle/>
          <a:p>
            <a:pPr indent="0" marL="0">
              <a:buNone/>
            </a:pPr>
            <a:r>
              <a:rPr lang="en-US" sz="1100" dirty="0">
                <a:solidFill>
                  <a:srgbClr val="5C6B73"/>
                </a:solidFill>
              </a:rPr>
              <a:t>test, scan, push, deploy</a:t>
            </a:r>
            <a:endParaRPr lang="en-US" sz="1100" dirty="0"/>
          </a:p>
        </p:txBody>
      </p:sp>
      <p:sp>
        <p:nvSpPr>
          <p:cNvPr id="23" name="mod5"/>
          <p:cNvSpPr/>
          <p:nvPr/>
        </p:nvSpPr>
        <p:spPr>
          <a:xfrm>
            <a:off x="6217920" y="2962656"/>
            <a:ext cx="5303520" cy="713232"/>
          </a:xfrm>
          <a:prstGeom prst="roundRect">
            <a:avLst>
              <a:gd name="adj" fmla="val 6410"/>
            </a:avLst>
          </a:prstGeom>
          <a:solidFill>
            <a:srgbClr val="F1F7F7"/>
          </a:solidFill>
          <a:ln w="12700">
            <a:solidFill>
              <a:srgbClr val="F1F7F7"/>
            </a:solidFill>
            <a:prstDash val="solid"/>
          </a:ln>
        </p:spPr>
      </p:sp>
      <p:sp>
        <p:nvSpPr>
          <p:cNvPr id="24" name="Text 22"/>
          <p:cNvSpPr txBox="1"/>
          <p:nvPr/>
        </p:nvSpPr>
        <p:spPr>
          <a:xfrm>
            <a:off x="6400800" y="3163824"/>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M6</a:t>
            </a:r>
            <a:endParaRPr lang="en-US" sz="1300" dirty="0"/>
          </a:p>
        </p:txBody>
      </p:sp>
      <p:sp>
        <p:nvSpPr>
          <p:cNvPr id="25" name="Text 23"/>
          <p:cNvSpPr txBox="1"/>
          <p:nvPr/>
        </p:nvSpPr>
        <p:spPr>
          <a:xfrm>
            <a:off x="6995160" y="3163824"/>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DevSecOps</a:t>
            </a:r>
            <a:endParaRPr lang="en-US" sz="1300" dirty="0"/>
          </a:p>
        </p:txBody>
      </p:sp>
      <p:sp>
        <p:nvSpPr>
          <p:cNvPr id="26" name="Text 24"/>
          <p:cNvSpPr txBox="1"/>
          <p:nvPr/>
        </p:nvSpPr>
        <p:spPr>
          <a:xfrm>
            <a:off x="8915400" y="3182112"/>
            <a:ext cx="2468880" cy="292608"/>
          </a:xfrm>
          <a:prstGeom prst="rect">
            <a:avLst/>
          </a:prstGeom>
          <a:noFill/>
          <a:ln/>
        </p:spPr>
        <p:txBody>
          <a:bodyPr wrap="square" lIns="0" tIns="0" rIns="0" bIns="0" rtlCol="0" anchor="ctr"/>
          <a:lstStyle/>
          <a:p>
            <a:pPr indent="0" marL="0">
              <a:buNone/>
            </a:pPr>
            <a:r>
              <a:rPr lang="en-US" sz="1100" dirty="0">
                <a:solidFill>
                  <a:srgbClr val="5C6B73"/>
                </a:solidFill>
              </a:rPr>
              <a:t>0 HIGH/CRITICAL</a:t>
            </a:r>
            <a:endParaRPr lang="en-US" sz="1100" dirty="0"/>
          </a:p>
        </p:txBody>
      </p:sp>
      <p:sp>
        <p:nvSpPr>
          <p:cNvPr id="27" name="mod6"/>
          <p:cNvSpPr/>
          <p:nvPr/>
        </p:nvSpPr>
        <p:spPr>
          <a:xfrm>
            <a:off x="640080" y="3803904"/>
            <a:ext cx="5303520" cy="713232"/>
          </a:xfrm>
          <a:prstGeom prst="roundRect">
            <a:avLst>
              <a:gd name="adj" fmla="val 6410"/>
            </a:avLst>
          </a:prstGeom>
          <a:solidFill>
            <a:srgbClr val="F1F7F7"/>
          </a:solidFill>
          <a:ln w="12700">
            <a:solidFill>
              <a:srgbClr val="F1F7F7"/>
            </a:solidFill>
            <a:prstDash val="solid"/>
          </a:ln>
        </p:spPr>
      </p:sp>
      <p:sp>
        <p:nvSpPr>
          <p:cNvPr id="28" name="Text 26"/>
          <p:cNvSpPr txBox="1"/>
          <p:nvPr/>
        </p:nvSpPr>
        <p:spPr>
          <a:xfrm>
            <a:off x="822960" y="4005072"/>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M7</a:t>
            </a:r>
            <a:endParaRPr lang="en-US" sz="1300" dirty="0"/>
          </a:p>
        </p:txBody>
      </p:sp>
      <p:sp>
        <p:nvSpPr>
          <p:cNvPr id="29" name="Text 27"/>
          <p:cNvSpPr txBox="1"/>
          <p:nvPr/>
        </p:nvSpPr>
        <p:spPr>
          <a:xfrm>
            <a:off x="1417320" y="4005072"/>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Terraform</a:t>
            </a:r>
            <a:endParaRPr lang="en-US" sz="1300" dirty="0"/>
          </a:p>
        </p:txBody>
      </p:sp>
      <p:sp>
        <p:nvSpPr>
          <p:cNvPr id="30" name="Text 28"/>
          <p:cNvSpPr txBox="1"/>
          <p:nvPr/>
        </p:nvSpPr>
        <p:spPr>
          <a:xfrm>
            <a:off x="3337560" y="4023360"/>
            <a:ext cx="2468880" cy="292608"/>
          </a:xfrm>
          <a:prstGeom prst="rect">
            <a:avLst/>
          </a:prstGeom>
          <a:noFill/>
          <a:ln/>
        </p:spPr>
        <p:txBody>
          <a:bodyPr wrap="square" lIns="0" tIns="0" rIns="0" bIns="0" rtlCol="0" anchor="ctr"/>
          <a:lstStyle/>
          <a:p>
            <a:pPr indent="0" marL="0">
              <a:buNone/>
            </a:pPr>
            <a:r>
              <a:rPr lang="en-US" sz="1100" dirty="0">
                <a:solidFill>
                  <a:srgbClr val="5C6B73"/>
                </a:solidFill>
              </a:rPr>
              <a:t>15 created, 15 destroyed</a:t>
            </a:r>
            <a:endParaRPr lang="en-US" sz="1100" dirty="0"/>
          </a:p>
        </p:txBody>
      </p:sp>
      <p:sp>
        <p:nvSpPr>
          <p:cNvPr id="31" name="mod7"/>
          <p:cNvSpPr/>
          <p:nvPr/>
        </p:nvSpPr>
        <p:spPr>
          <a:xfrm>
            <a:off x="6217920" y="3803904"/>
            <a:ext cx="5303520" cy="713232"/>
          </a:xfrm>
          <a:prstGeom prst="roundRect">
            <a:avLst>
              <a:gd name="adj" fmla="val 6410"/>
            </a:avLst>
          </a:prstGeom>
          <a:solidFill>
            <a:srgbClr val="F1F7F7"/>
          </a:solidFill>
          <a:ln w="12700">
            <a:solidFill>
              <a:srgbClr val="F1F7F7"/>
            </a:solidFill>
            <a:prstDash val="solid"/>
          </a:ln>
        </p:spPr>
      </p:sp>
      <p:sp>
        <p:nvSpPr>
          <p:cNvPr id="32" name="Text 30"/>
          <p:cNvSpPr txBox="1"/>
          <p:nvPr/>
        </p:nvSpPr>
        <p:spPr>
          <a:xfrm>
            <a:off x="6400800" y="4005072"/>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M8</a:t>
            </a:r>
            <a:endParaRPr lang="en-US" sz="1300" dirty="0"/>
          </a:p>
        </p:txBody>
      </p:sp>
      <p:sp>
        <p:nvSpPr>
          <p:cNvPr id="33" name="Text 31"/>
          <p:cNvSpPr txBox="1"/>
          <p:nvPr/>
        </p:nvSpPr>
        <p:spPr>
          <a:xfrm>
            <a:off x="6995160" y="4005072"/>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Kubernetes</a:t>
            </a:r>
            <a:endParaRPr lang="en-US" sz="1300" dirty="0"/>
          </a:p>
        </p:txBody>
      </p:sp>
      <p:sp>
        <p:nvSpPr>
          <p:cNvPr id="34" name="Text 32"/>
          <p:cNvSpPr txBox="1"/>
          <p:nvPr/>
        </p:nvSpPr>
        <p:spPr>
          <a:xfrm>
            <a:off x="8915400" y="4023360"/>
            <a:ext cx="2468880" cy="292608"/>
          </a:xfrm>
          <a:prstGeom prst="rect">
            <a:avLst/>
          </a:prstGeom>
          <a:noFill/>
          <a:ln/>
        </p:spPr>
        <p:txBody>
          <a:bodyPr wrap="square" lIns="0" tIns="0" rIns="0" bIns="0" rtlCol="0" anchor="ctr"/>
          <a:lstStyle/>
          <a:p>
            <a:pPr indent="0" marL="0">
              <a:buNone/>
            </a:pPr>
            <a:r>
              <a:rPr lang="en-US" sz="1100" dirty="0">
                <a:solidFill>
                  <a:srgbClr val="5C6B73"/>
                </a:solidFill>
              </a:rPr>
              <a:t>EKS, Ingress, HPA</a:t>
            </a:r>
            <a:endParaRPr lang="en-US" sz="1100" dirty="0"/>
          </a:p>
        </p:txBody>
      </p:sp>
      <p:sp>
        <p:nvSpPr>
          <p:cNvPr id="35" name="mod8"/>
          <p:cNvSpPr/>
          <p:nvPr/>
        </p:nvSpPr>
        <p:spPr>
          <a:xfrm>
            <a:off x="640080" y="4645152"/>
            <a:ext cx="5303520" cy="713232"/>
          </a:xfrm>
          <a:prstGeom prst="roundRect">
            <a:avLst>
              <a:gd name="adj" fmla="val 6410"/>
            </a:avLst>
          </a:prstGeom>
          <a:solidFill>
            <a:srgbClr val="F1F7F7"/>
          </a:solidFill>
          <a:ln w="12700">
            <a:solidFill>
              <a:srgbClr val="F1F7F7"/>
            </a:solidFill>
            <a:prstDash val="solid"/>
          </a:ln>
        </p:spPr>
      </p:sp>
      <p:sp>
        <p:nvSpPr>
          <p:cNvPr id="36" name="Text 34"/>
          <p:cNvSpPr txBox="1"/>
          <p:nvPr/>
        </p:nvSpPr>
        <p:spPr>
          <a:xfrm>
            <a:off x="822960" y="4846320"/>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M9</a:t>
            </a:r>
            <a:endParaRPr lang="en-US" sz="1300" dirty="0"/>
          </a:p>
        </p:txBody>
      </p:sp>
      <p:sp>
        <p:nvSpPr>
          <p:cNvPr id="37" name="Text 35"/>
          <p:cNvSpPr txBox="1"/>
          <p:nvPr/>
        </p:nvSpPr>
        <p:spPr>
          <a:xfrm>
            <a:off x="1417320" y="4846320"/>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Observability</a:t>
            </a:r>
            <a:endParaRPr lang="en-US" sz="1300" dirty="0"/>
          </a:p>
        </p:txBody>
      </p:sp>
      <p:sp>
        <p:nvSpPr>
          <p:cNvPr id="38" name="Text 36"/>
          <p:cNvSpPr txBox="1"/>
          <p:nvPr/>
        </p:nvSpPr>
        <p:spPr>
          <a:xfrm>
            <a:off x="3337560" y="4864608"/>
            <a:ext cx="2468880" cy="292608"/>
          </a:xfrm>
          <a:prstGeom prst="rect">
            <a:avLst/>
          </a:prstGeom>
          <a:noFill/>
          <a:ln/>
        </p:spPr>
        <p:txBody>
          <a:bodyPr wrap="square" lIns="0" tIns="0" rIns="0" bIns="0" rtlCol="0" anchor="ctr"/>
          <a:lstStyle/>
          <a:p>
            <a:pPr indent="0" marL="0">
              <a:buNone/>
            </a:pPr>
            <a:r>
              <a:rPr lang="en-US" sz="1100" dirty="0">
                <a:solidFill>
                  <a:srgbClr val="5C6B73"/>
                </a:solidFill>
              </a:rPr>
              <a:t>scraped, dashboarded</a:t>
            </a:r>
            <a:endParaRPr lang="en-US" sz="1100" dirty="0"/>
          </a:p>
        </p:txBody>
      </p:sp>
      <p:sp>
        <p:nvSpPr>
          <p:cNvPr id="39" name="mod9"/>
          <p:cNvSpPr/>
          <p:nvPr/>
        </p:nvSpPr>
        <p:spPr>
          <a:xfrm>
            <a:off x="6217920" y="4645152"/>
            <a:ext cx="5303520" cy="713232"/>
          </a:xfrm>
          <a:prstGeom prst="roundRect">
            <a:avLst>
              <a:gd name="adj" fmla="val 6410"/>
            </a:avLst>
          </a:prstGeom>
          <a:solidFill>
            <a:srgbClr val="F1F7F7"/>
          </a:solidFill>
          <a:ln w="12700">
            <a:solidFill>
              <a:srgbClr val="F1F7F7"/>
            </a:solidFill>
            <a:prstDash val="solid"/>
          </a:ln>
        </p:spPr>
      </p:sp>
      <p:sp>
        <p:nvSpPr>
          <p:cNvPr id="40" name="Text 38"/>
          <p:cNvSpPr txBox="1"/>
          <p:nvPr/>
        </p:nvSpPr>
        <p:spPr>
          <a:xfrm>
            <a:off x="6400800" y="4846320"/>
            <a:ext cx="548640" cy="320040"/>
          </a:xfrm>
          <a:prstGeom prst="rect">
            <a:avLst/>
          </a:prstGeom>
          <a:noFill/>
          <a:ln/>
        </p:spPr>
        <p:txBody>
          <a:bodyPr wrap="square" lIns="0" tIns="0" rIns="0" bIns="0" rtlCol="0" anchor="ctr"/>
          <a:lstStyle/>
          <a:p>
            <a:pPr indent="0" marL="0">
              <a:buNone/>
            </a:pPr>
            <a:r>
              <a:rPr lang="en-US" sz="1300" b="1" dirty="0">
                <a:solidFill>
                  <a:srgbClr val="028090"/>
                </a:solidFill>
              </a:rPr>
              <a:t>M10</a:t>
            </a:r>
            <a:endParaRPr lang="en-US" sz="1300" dirty="0"/>
          </a:p>
        </p:txBody>
      </p:sp>
      <p:sp>
        <p:nvSpPr>
          <p:cNvPr id="41" name="Text 39"/>
          <p:cNvSpPr txBox="1"/>
          <p:nvPr/>
        </p:nvSpPr>
        <p:spPr>
          <a:xfrm>
            <a:off x="6995160" y="4846320"/>
            <a:ext cx="1920240" cy="320040"/>
          </a:xfrm>
          <a:prstGeom prst="rect">
            <a:avLst/>
          </a:prstGeom>
          <a:noFill/>
          <a:ln/>
        </p:spPr>
        <p:txBody>
          <a:bodyPr wrap="square" lIns="0" tIns="0" rIns="0" bIns="0" rtlCol="0" anchor="ctr"/>
          <a:lstStyle/>
          <a:p>
            <a:pPr indent="0" marL="0">
              <a:buNone/>
            </a:pPr>
            <a:r>
              <a:rPr lang="en-US" sz="1300" b="1" dirty="0">
                <a:solidFill>
                  <a:schemeClr val="tx1"/>
                </a:solidFill>
              </a:rPr>
              <a:t>Documentation</a:t>
            </a:r>
            <a:endParaRPr lang="en-US" sz="1300" dirty="0"/>
          </a:p>
        </p:txBody>
      </p:sp>
      <p:sp>
        <p:nvSpPr>
          <p:cNvPr id="42" name="Text 40"/>
          <p:cNvSpPr txBox="1"/>
          <p:nvPr/>
        </p:nvSpPr>
        <p:spPr>
          <a:xfrm>
            <a:off x="8915400" y="4864608"/>
            <a:ext cx="2468880" cy="292608"/>
          </a:xfrm>
          <a:prstGeom prst="rect">
            <a:avLst/>
          </a:prstGeom>
          <a:noFill/>
          <a:ln/>
        </p:spPr>
        <p:txBody>
          <a:bodyPr wrap="square" lIns="0" tIns="0" rIns="0" bIns="0" rtlCol="0" anchor="ctr"/>
          <a:lstStyle/>
          <a:p>
            <a:pPr indent="0" marL="0">
              <a:buNone/>
            </a:pPr>
            <a:r>
              <a:rPr lang="en-US" sz="1100" dirty="0">
                <a:solidFill>
                  <a:srgbClr val="5C6B73"/>
                </a:solidFill>
              </a:rPr>
              <a:t>README + this deck</a:t>
            </a:r>
            <a:endParaRPr lang="en-US" sz="11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p>
            <a:pPr algn="l" indent="0" marL="0">
              <a:buNone/>
            </a:pPr>
            <a:r>
              <a:rPr lang="en-US" sz="3400" b="1" dirty="0">
                <a:solidFill>
                  <a:schemeClr val="tx1"/>
                </a:solidFill>
              </a:rPr>
              <a:t>What was not run</a:t>
            </a:r>
            <a:endParaRPr lang="en-US" sz="3400" dirty="0"/>
          </a:p>
        </p:txBody>
      </p:sp>
      <p:sp>
        <p:nvSpPr>
          <p:cNvPr id="3" name="Text 1"/>
          <p:cNvSpPr txBox="1"/>
          <p:nvPr/>
        </p:nvSpPr>
        <p:spPr>
          <a:xfrm>
            <a:off x="640080" y="1188720"/>
            <a:ext cx="10058400" cy="320040"/>
          </a:xfrm>
          <a:prstGeom prst="rect">
            <a:avLst/>
          </a:prstGeom>
          <a:noFill/>
          <a:ln/>
        </p:spPr>
        <p:txBody>
          <a:bodyPr wrap="square" lIns="0" tIns="0" rIns="0" bIns="0" rtlCol="0" anchor="ctr"/>
          <a:lstStyle/>
          <a:p>
            <a:pPr indent="0" marL="0">
              <a:buNone/>
            </a:pPr>
            <a:r>
              <a:rPr lang="en-US" sz="1400" i="1" dirty="0">
                <a:solidFill>
                  <a:srgbClr val="5C6B73"/>
                </a:solidFill>
              </a:rPr>
              <a:t>Recorded in the README rather than glossed over</a:t>
            </a:r>
            <a:endParaRPr lang="en-US" sz="1400" dirty="0"/>
          </a:p>
        </p:txBody>
      </p:sp>
      <p:sp>
        <p:nvSpPr>
          <p:cNvPr id="4" name="gap0"/>
          <p:cNvSpPr/>
          <p:nvPr/>
        </p:nvSpPr>
        <p:spPr>
          <a:xfrm>
            <a:off x="640080" y="1737360"/>
            <a:ext cx="10881360" cy="1143000"/>
          </a:xfrm>
          <a:prstGeom prst="roundRect">
            <a:avLst>
              <a:gd name="adj" fmla="val 6400"/>
            </a:avLst>
          </a:prstGeom>
          <a:solidFill>
            <a:srgbClr val="F1F7F7"/>
          </a:solidFill>
          <a:ln w="12700">
            <a:solidFill>
              <a:srgbClr val="F1F7F7"/>
            </a:solidFill>
            <a:prstDash val="solid"/>
          </a:ln>
        </p:spPr>
      </p:sp>
      <p:sp>
        <p:nvSpPr>
          <p:cNvPr id="5" name="Text 3"/>
          <p:cNvSpPr txBox="1"/>
          <p:nvPr/>
        </p:nvSpPr>
        <p:spPr>
          <a:xfrm>
            <a:off x="960120" y="1901952"/>
            <a:ext cx="10058400" cy="274320"/>
          </a:xfrm>
          <a:prstGeom prst="rect">
            <a:avLst/>
          </a:prstGeom>
          <a:noFill/>
          <a:ln/>
        </p:spPr>
        <p:txBody>
          <a:bodyPr wrap="square" lIns="0" tIns="0" rIns="0" bIns="0" rtlCol="0" anchor="ctr"/>
          <a:lstStyle/>
          <a:p>
            <a:pPr indent="0" marL="0">
              <a:buNone/>
            </a:pPr>
            <a:r>
              <a:rPr lang="en-US" sz="1400" b="1" dirty="0">
                <a:solidFill>
                  <a:srgbClr val="F0A202"/>
                </a:solidFill>
              </a:rPr>
              <a:t>The GitHub Actions pipeline has never executed</a:t>
            </a:r>
            <a:endParaRPr lang="en-US" sz="1400" dirty="0"/>
          </a:p>
        </p:txBody>
      </p:sp>
      <p:sp>
        <p:nvSpPr>
          <p:cNvPr id="6" name="Text 4"/>
          <p:cNvSpPr txBox="1"/>
          <p:nvPr/>
        </p:nvSpPr>
        <p:spPr>
          <a:xfrm>
            <a:off x="960120" y="2212848"/>
            <a:ext cx="10241280" cy="548640"/>
          </a:xfrm>
          <a:prstGeom prst="rect">
            <a:avLst/>
          </a:prstGeom>
          <a:noFill/>
          <a:ln/>
        </p:spPr>
        <p:txBody>
          <a:bodyPr wrap="square" lIns="0" tIns="0" rIns="0" bIns="0" rtlCol="0" anchor="ctr"/>
          <a:lstStyle/>
          <a:p>
            <a:pPr indent="0" marL="0">
              <a:buNone/>
            </a:pPr>
            <a:r>
              <a:rPr lang="en-US" sz="1200" dirty="0">
                <a:solidFill>
                  <a:schemeClr val="tx1"/>
                </a:solidFill>
              </a:rPr>
              <a:t>GitHub only runs workflows found at a repository root, and this folder sits inside the coursework repo. Every step it defines was run by hand and evidenced. Pushing this folder as its own repository would make it run.</a:t>
            </a:r>
            <a:endParaRPr lang="en-US" sz="1200" dirty="0"/>
          </a:p>
        </p:txBody>
      </p:sp>
      <p:sp>
        <p:nvSpPr>
          <p:cNvPr id="7" name="gap1"/>
          <p:cNvSpPr/>
          <p:nvPr/>
        </p:nvSpPr>
        <p:spPr>
          <a:xfrm>
            <a:off x="640080" y="3063240"/>
            <a:ext cx="10881360" cy="1143000"/>
          </a:xfrm>
          <a:prstGeom prst="roundRect">
            <a:avLst>
              <a:gd name="adj" fmla="val 6400"/>
            </a:avLst>
          </a:prstGeom>
          <a:solidFill>
            <a:srgbClr val="F1F7F7"/>
          </a:solidFill>
          <a:ln w="12700">
            <a:solidFill>
              <a:srgbClr val="F1F7F7"/>
            </a:solidFill>
            <a:prstDash val="solid"/>
          </a:ln>
        </p:spPr>
      </p:sp>
      <p:sp>
        <p:nvSpPr>
          <p:cNvPr id="8" name="Text 6"/>
          <p:cNvSpPr txBox="1"/>
          <p:nvPr/>
        </p:nvSpPr>
        <p:spPr>
          <a:xfrm>
            <a:off x="960120" y="3227832"/>
            <a:ext cx="10058400" cy="274320"/>
          </a:xfrm>
          <a:prstGeom prst="rect">
            <a:avLst/>
          </a:prstGeom>
          <a:noFill/>
          <a:ln/>
        </p:spPr>
        <p:txBody>
          <a:bodyPr wrap="square" lIns="0" tIns="0" rIns="0" bIns="0" rtlCol="0" anchor="ctr"/>
          <a:lstStyle/>
          <a:p>
            <a:pPr indent="0" marL="0">
              <a:buNone/>
            </a:pPr>
            <a:r>
              <a:rPr lang="en-US" sz="1400" b="1" dirty="0">
                <a:solidFill>
                  <a:srgbClr val="F0A202"/>
                </a:solidFill>
              </a:rPr>
              <a:t>No HPA scale-up under load was demonstrated</a:t>
            </a:r>
            <a:endParaRPr lang="en-US" sz="1400" dirty="0"/>
          </a:p>
        </p:txBody>
      </p:sp>
      <p:sp>
        <p:nvSpPr>
          <p:cNvPr id="9" name="Text 7"/>
          <p:cNvSpPr txBox="1"/>
          <p:nvPr/>
        </p:nvSpPr>
        <p:spPr>
          <a:xfrm>
            <a:off x="960120" y="3538728"/>
            <a:ext cx="10241280" cy="548640"/>
          </a:xfrm>
          <a:prstGeom prst="rect">
            <a:avLst/>
          </a:prstGeom>
          <a:noFill/>
          <a:ln/>
        </p:spPr>
        <p:txBody>
          <a:bodyPr wrap="square" lIns="0" tIns="0" rIns="0" bIns="0" rtlCol="0" anchor="ctr"/>
          <a:lstStyle/>
          <a:p>
            <a:pPr indent="0" marL="0">
              <a:buNone/>
            </a:pPr>
            <a:r>
              <a:rPr lang="en-US" sz="1200" dirty="0">
                <a:solidFill>
                  <a:schemeClr val="tx1"/>
                </a:solidFill>
              </a:rPr>
              <a:t>The HPA was deployed and reading CPU at 6%/60% through metrics-server, but no load test was run before teardown.</a:t>
            </a:r>
            <a:endParaRPr lang="en-US" sz="1200" dirty="0"/>
          </a:p>
        </p:txBody>
      </p:sp>
      <p:sp>
        <p:nvSpPr>
          <p:cNvPr id="10" name="gap2"/>
          <p:cNvSpPr/>
          <p:nvPr/>
        </p:nvSpPr>
        <p:spPr>
          <a:xfrm>
            <a:off x="640080" y="4389120"/>
            <a:ext cx="10881360" cy="1143000"/>
          </a:xfrm>
          <a:prstGeom prst="roundRect">
            <a:avLst>
              <a:gd name="adj" fmla="val 6400"/>
            </a:avLst>
          </a:prstGeom>
          <a:solidFill>
            <a:srgbClr val="F1F7F7"/>
          </a:solidFill>
          <a:ln w="12700">
            <a:solidFill>
              <a:srgbClr val="F1F7F7"/>
            </a:solidFill>
            <a:prstDash val="solid"/>
          </a:ln>
        </p:spPr>
      </p:sp>
      <p:sp>
        <p:nvSpPr>
          <p:cNvPr id="11" name="Text 9"/>
          <p:cNvSpPr txBox="1"/>
          <p:nvPr/>
        </p:nvSpPr>
        <p:spPr>
          <a:xfrm>
            <a:off x="960120" y="4553712"/>
            <a:ext cx="10058400" cy="274320"/>
          </a:xfrm>
          <a:prstGeom prst="rect">
            <a:avLst/>
          </a:prstGeom>
          <a:noFill/>
          <a:ln/>
        </p:spPr>
        <p:txBody>
          <a:bodyPr wrap="square" lIns="0" tIns="0" rIns="0" bIns="0" rtlCol="0" anchor="ctr"/>
          <a:lstStyle/>
          <a:p>
            <a:pPr indent="0" marL="0">
              <a:buNone/>
            </a:pPr>
            <a:r>
              <a:rPr lang="en-US" sz="1400" b="1" dirty="0">
                <a:solidFill>
                  <a:srgbClr val="F0A202"/>
                </a:solidFill>
              </a:rPr>
              <a:t>The AWS load balancer was not created by Terraform</a:t>
            </a:r>
            <a:endParaRPr lang="en-US" sz="1400" dirty="0"/>
          </a:p>
        </p:txBody>
      </p:sp>
      <p:sp>
        <p:nvSpPr>
          <p:cNvPr id="12" name="Text 10"/>
          <p:cNvSpPr txBox="1"/>
          <p:nvPr/>
        </p:nvSpPr>
        <p:spPr>
          <a:xfrm>
            <a:off x="960120" y="4864608"/>
            <a:ext cx="10241280" cy="548640"/>
          </a:xfrm>
          <a:prstGeom prst="rect">
            <a:avLst/>
          </a:prstGeom>
          <a:noFill/>
          <a:ln/>
        </p:spPr>
        <p:txBody>
          <a:bodyPr wrap="square" lIns="0" tIns="0" rIns="0" bIns="0" rtlCol="0" anchor="ctr"/>
          <a:lstStyle/>
          <a:p>
            <a:pPr indent="0" marL="0">
              <a:buNone/>
            </a:pPr>
            <a:r>
              <a:rPr lang="en-US" sz="1200" dirty="0">
                <a:solidFill>
                  <a:schemeClr val="tx1"/>
                </a:solidFill>
              </a:rPr>
              <a:t>It was provisioned by the Kubernetes Service, so it sits outside the state file and had to be deleted separately before destroy would complete.</a:t>
            </a:r>
            <a:endParaRPr lang="en-US" sz="1200" dirty="0"/>
          </a:p>
        </p:txBody>
      </p:sp>
      <p:sp>
        <p:nvSpPr>
          <p:cNvPr id="25" name="Slide Number Placeholder 0"/>
          <p:cNvSpPr>
            <a:spLocks noGrp="1"/>
          </p:cNvSpPr>
          <p:nvPr>
            <p:ph type="sldNum" sz="quarter" idx="4294967295"/>
          </p:nvPr>
        </p:nvSpPr>
        <p:spPr>
          <a:xfrm>
            <a:off x="1124712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1005840" y="2286000"/>
            <a:ext cx="10058400" cy="1371600"/>
          </a:xfrm>
          <a:prstGeom prst="rect">
            <a:avLst/>
          </a:prstGeom>
          <a:noFill/>
          <a:ln/>
        </p:spPr>
        <p:txBody>
          <a:bodyPr wrap="square" rtlCol="0"/>
          <a:lstStyle/>
          <a:p>
            <a:pPr indent="0" marL="0">
              <a:buNone/>
            </a:pPr>
            <a:r>
              <a:rPr lang="en-US" sz="5000" b="1" dirty="0">
                <a:solidFill>
                  <a:schemeClr val="bg1"/>
                </a:solidFill>
              </a:rPr>
              <a:t>Thank you</a:t>
            </a:r>
            <a:endParaRPr lang="en-US" sz="5000" dirty="0"/>
          </a:p>
        </p:txBody>
      </p:sp>
      <p:sp>
        <p:nvSpPr>
          <p:cNvPr id="3" name="Text 1"/>
          <p:cNvSpPr/>
          <p:nvPr>
            <p:ph idx="102" type="body" hasCustomPrompt="1"/>
          </p:nvPr>
        </p:nvSpPr>
        <p:spPr>
          <a:xfrm>
            <a:off x="1005840" y="3657600"/>
            <a:ext cx="10058400" cy="1463040"/>
          </a:xfrm>
          <a:prstGeom prst="rect">
            <a:avLst/>
          </a:prstGeom>
          <a:noFill/>
          <a:ln/>
        </p:spPr>
        <p:txBody>
          <a:bodyPr wrap="square" rtlCol="0"/>
          <a:lstStyle/>
          <a:p>
            <a:pPr indent="0" marL="0">
              <a:buNone/>
            </a:pPr>
            <a:r>
              <a:rPr lang="en-US" sz="1800" dirty="0">
                <a:solidFill>
                  <a:srgbClr val="02C39A"/>
                </a:solidFill>
              </a:rPr>
              <a:t>CampusDesk - from docker compose up to a monitored EKS cluster, and safely back down again</a:t>
            </a:r>
            <a:endParaRPr lang="en-US" sz="1800" dirty="0"/>
          </a:p>
          <a:p>
            <a:pPr indent="0" marL="0">
              <a:buNone/>
            </a:pPr>
            <a:r>
              <a:rPr lang="en-US" sz="1400" dirty="0">
                <a:solidFill>
                  <a:srgbClr val="5C6B73"/>
                </a:solidFill>
              </a:rPr>
              <a:t>Questions welcome</a:t>
            </a:r>
            <a:endParaRPr lang="en-US" sz="1800" dirty="0"/>
          </a:p>
        </p:txBody>
      </p:sp>
    </p:spTree>
  </p:cSld>
  <p:clrMapOvr>
    <a:masterClrMapping/>
  </p:clrMapOvr>
</p:sld>
</file>

<file path=ppt/theme/theme1.xml><?xml version="1.0" encoding="utf-8"?>
<a:theme xmlns:a="http://schemas.openxmlformats.org/drawingml/2006/main" name="CampusDesk">
  <a:themeElements>
    <a:clrScheme name="CampusDesk">
      <a:dk1>
        <a:srgbClr val="0F2027"/>
      </a:dk1>
      <a:lt1>
        <a:srgbClr val="FFFFFF"/>
      </a:lt1>
      <a:dk2>
        <a:srgbClr val="13343B"/>
      </a:dk2>
      <a:lt2>
        <a:srgbClr val="F1F7F7"/>
      </a:lt2>
      <a:accent1>
        <a:srgbClr val="028090"/>
      </a:accent1>
      <a:accent2>
        <a:srgbClr val="00A896"/>
      </a:accent2>
      <a:accent3>
        <a:srgbClr val="02C39A"/>
      </a:accent3>
      <a:accent4>
        <a:srgbClr val="F0A202"/>
      </a:accent4>
      <a:accent5>
        <a:srgbClr val="E05263"/>
      </a:accent5>
      <a:accent6>
        <a:srgbClr val="5C6B73"/>
      </a:accent6>
      <a:hlink>
        <a:srgbClr val="028090"/>
      </a:hlink>
      <a:folHlink>
        <a:srgbClr val="5C6B73"/>
      </a:folHlink>
    </a:clrScheme>
    <a:fontScheme name="CampusDe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CampusDesk - DevOps Capstone</dc:title>
  <dc:subject>PptxGenJS Presentation</dc:subject>
  <dc:creator>Lakshay Jagga</dc:creator>
  <cp:lastModifiedBy>Lakshay Jagga</cp:lastModifiedBy>
  <cp:revision>1</cp:revision>
  <dcterms:created xsi:type="dcterms:W3CDTF">2026-10-22T03:59:28Z</dcterms:created>
  <dcterms:modified xsi:type="dcterms:W3CDTF">2026-10-22T03:59:28Z</dcterms:modified>
</cp:coreProperties>
</file>